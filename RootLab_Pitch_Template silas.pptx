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4"/>
  </p:notesMasterIdLst>
  <p:sldIdLst>
    <p:sldId id="256" r:id="rId13"/>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18288000" cy="10287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æ·±è²æ ·å¼ 1 - å¼ºè°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ä¸­åº¦æ ·å¼ 2 - å¼ºè°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notesMaster" Target="notesMasters/notesMaster1.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home/nextinnomind/Downloads/market_data.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440" b="0" i="0" u="none" strike="noStrike" kern="1200" spc="0" baseline="0">
              <a:solidFill>
                <a:schemeClr val="tx1">
                  <a:lumMod val="65000"/>
                  <a:lumOff val="35000"/>
                </a:schemeClr>
              </a:solidFill>
              <a:latin typeface="+mn-lt"/>
              <a:ea typeface="+mn-ea"/>
              <a:cs typeface="+mn-cs"/>
            </a:defRPr>
          </a:pPr>
        </a:p>
      </c:txPr>
    </c:title>
    <c:autoTitleDeleted val="0"/>
    <c:plotArea>
      <c:layout/>
      <c:ofPieChart>
        <c:ofPieType val="bar"/>
        <c:varyColors val="1"/>
        <c:ser>
          <c:idx val="0"/>
          <c:order val="0"/>
          <c:tx>
            <c:strRef>
              <c:f>'[market_data.xlsx]Market Data'!$B$1</c:f>
              <c:strCache>
                <c:ptCount val="1"/>
                <c:pt idx="0">
                  <c:v>Target Farmers</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Lbls>
            <c:delete val="1"/>
          </c:dLbls>
          <c:cat>
            <c:strRef>
              <c:f>'[market_data.xlsx]Market Data'!$A$2:$A$4</c:f>
              <c:strCache>
                <c:ptCount val="3"/>
                <c:pt idx="0">
                  <c:v>TAM (All small-scale farmers)</c:v>
                </c:pt>
                <c:pt idx="1">
                  <c:v>SAM (Farmers with phone access)</c:v>
                </c:pt>
                <c:pt idx="2">
                  <c:v>SOM (Achievable 18-month adoption)</c:v>
                </c:pt>
              </c:strCache>
            </c:strRef>
          </c:cat>
          <c:val>
            <c:numRef>
              <c:f>'[market_data.xlsx]Market Data'!$B$2:$B$4</c:f>
              <c:numCache>
                <c:formatCode>General</c:formatCode>
                <c:ptCount val="3"/>
                <c:pt idx="0">
                  <c:v>1600000</c:v>
                </c:pt>
                <c:pt idx="1">
                  <c:v>1264000</c:v>
                </c:pt>
                <c:pt idx="2">
                  <c:v>101000</c:v>
                </c:pt>
              </c:numCache>
            </c:numRef>
          </c:val>
        </c:ser>
        <c:ser>
          <c:idx val="1"/>
          <c:order val="1"/>
          <c:tx>
            <c:strRef>
              <c:f>'[market_data.xlsx]Market Data'!$C$1</c:f>
              <c:strCache>
                <c:ptCount val="1"/>
                <c:pt idx="0">
                  <c:v>Annual Value (ZMW)</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Lbls>
            <c:delete val="1"/>
          </c:dLbls>
          <c:cat>
            <c:strRef>
              <c:f>'[market_data.xlsx]Market Data'!$A$2:$A$4</c:f>
              <c:strCache>
                <c:ptCount val="3"/>
                <c:pt idx="0">
                  <c:v>TAM (All small-scale farmers)</c:v>
                </c:pt>
                <c:pt idx="1">
                  <c:v>SAM (Farmers with phone access)</c:v>
                </c:pt>
                <c:pt idx="2">
                  <c:v>SOM (Achievable 18-month adoption)</c:v>
                </c:pt>
              </c:strCache>
            </c:strRef>
          </c:cat>
          <c:val>
            <c:numRef>
              <c:f>'[market_data.xlsx]Market Data'!$C$2:$C$4</c:f>
              <c:numCache>
                <c:formatCode>General</c:formatCode>
                <c:ptCount val="3"/>
                <c:pt idx="0">
                  <c:v>96000000</c:v>
                </c:pt>
                <c:pt idx="1">
                  <c:v>75840000</c:v>
                </c:pt>
                <c:pt idx="2">
                  <c:v>6060000</c:v>
                </c:pt>
              </c:numCache>
            </c:numRef>
          </c:val>
        </c:ser>
        <c:dLbls>
          <c:showLegendKey val="0"/>
          <c:showVal val="0"/>
          <c:showCatName val="0"/>
          <c:showSerName val="0"/>
          <c:showPercent val="0"/>
          <c:showBubbleSize val="0"/>
          <c:showLeaderLines val="1"/>
        </c:dLbls>
        <c:gapWidth val="100"/>
        <c:secondPieSize val="75"/>
        <c:serLines>
          <c:spPr>
            <a:ln w="9525" cap="flat" cmpd="sng" algn="ctr">
              <a:solidFill>
                <a:schemeClr val="tx1">
                  <a:lumMod val="35000"/>
                  <a:lumOff val="65000"/>
                </a:schemeClr>
              </a:solidFill>
              <a:round/>
            </a:ln>
            <a:effectLst/>
          </c:spPr>
        </c:serLines>
      </c:ofPieChart>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ofPieChart>
        <c:ofPieType val="bar"/>
        <c:varyColors val="1"/>
        <c:ser>
          <c:idx val="0"/>
          <c:order val="0"/>
          <c:spPr/>
          <c:explosion val="0"/>
          <c:dPt>
            <c:idx val="0"/>
            <c:bubble3D val="0"/>
            <c:spPr>
              <a:solidFill>
                <a:schemeClr val="accent1"/>
              </a:solidFill>
              <a:ln>
                <a:noFill/>
              </a:ln>
              <a:effectLst>
                <a:outerShdw blurRad="254000" sx="102000" sy="102000" algn="ctr" rotWithShape="0">
                  <a:prstClr val="black">
                    <a:alpha val="20000"/>
                  </a:prstClr>
                </a:outerShdw>
              </a:effectLst>
            </c:spPr>
          </c:dPt>
          <c:dPt>
            <c:idx val="1"/>
            <c:bubble3D val="0"/>
            <c:spPr>
              <a:solidFill>
                <a:schemeClr val="accent2"/>
              </a:solidFill>
              <a:ln>
                <a:noFill/>
              </a:ln>
              <a:effectLst>
                <a:outerShdw blurRad="254000" sx="102000" sy="102000" algn="ctr" rotWithShape="0">
                  <a:prstClr val="black">
                    <a:alpha val="20000"/>
                  </a:prstClr>
                </a:outerShdw>
              </a:effectLst>
            </c:spPr>
          </c:dPt>
          <c:dPt>
            <c:idx val="2"/>
            <c:bubble3D val="0"/>
            <c:spPr>
              <a:solidFill>
                <a:schemeClr val="accent3"/>
              </a:solidFill>
              <a:ln>
                <a:noFill/>
              </a:ln>
              <a:effectLst>
                <a:outerShdw blurRad="254000" sx="102000" sy="102000" algn="ctr" rotWithShape="0">
                  <a:prstClr val="black">
                    <a:alpha val="20000"/>
                  </a:prstClr>
                </a:outerShdw>
              </a:effectLst>
            </c:spPr>
          </c:dPt>
          <c:dPt>
            <c:idx val="3"/>
            <c:bubble3D val="0"/>
            <c:spPr>
              <a:solidFill>
                <a:schemeClr val="accent4"/>
              </a:solidFill>
              <a:ln>
                <a:noFill/>
              </a:ln>
              <a:effectLst>
                <a:outerShdw blurRad="254000" sx="102000" sy="102000" algn="ctr" rotWithShape="0">
                  <a:prstClr val="black">
                    <a:alpha val="20000"/>
                  </a:prstClr>
                </a:outerShdw>
              </a:effectLst>
            </c:spPr>
          </c:dPt>
          <c:dPt>
            <c:idx val="4"/>
            <c:bubble3D val="0"/>
            <c:spPr>
              <a:solidFill>
                <a:schemeClr val="accent5"/>
              </a:solidFill>
              <a:ln>
                <a:noFill/>
              </a:ln>
              <a:effectLst>
                <a:outerShdw blurRad="254000" sx="102000" sy="102000" algn="ctr" rotWithShape="0">
                  <a:prstClr val="black">
                    <a:alpha val="20000"/>
                  </a:prstClr>
                </a:outerShdw>
              </a:effectLst>
            </c:spPr>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0" vertOverflow="ellipsis" vert="horz" wrap="square" lIns="38100" tIns="19050" rIns="38100" bIns="19050" anchor="ctr" anchorCtr="1"/>
              <a:lstStyle/>
              <a:p>
                <a:pPr>
                  <a:defRPr lang="en-US" sz="1000" b="1" i="0" u="none" strike="noStrike" kern="1200" baseline="0">
                    <a:solidFill>
                      <a:schemeClr val="lt1"/>
                    </a:solidFill>
                    <a:latin typeface="+mn-lt"/>
                    <a:ea typeface="+mn-ea"/>
                    <a:cs typeface="+mn-cs"/>
                  </a:defRPr>
                </a:pPr>
              </a:p>
            </c:txPr>
            <c:dLblPos val="ct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[Book1]Sheet1!$A$1:$A$4</c:f>
              <c:strCache>
                <c:ptCount val="4"/>
                <c:pt idx="0">
                  <c:v>Software Development</c:v>
                </c:pt>
                <c:pt idx="1">
                  <c:v>Hosting &amp; API Costs</c:v>
                </c:pt>
                <c:pt idx="2">
                  <c:v>Marketing &amp; Promotion</c:v>
                </c:pt>
                <c:pt idx="3">
                  <c:v>Farmer Training &amp; Outreach</c:v>
                </c:pt>
              </c:strCache>
            </c:strRef>
          </c:cat>
          <c:val>
            <c:numRef>
              <c:f>[Book1]Sheet1!$B$1:$B$4</c:f>
              <c:numCache>
                <c:formatCode>#,##0</c:formatCode>
                <c:ptCount val="4"/>
                <c:pt idx="0">
                  <c:v>4500</c:v>
                </c:pt>
                <c:pt idx="1">
                  <c:v>1500</c:v>
                </c:pt>
                <c:pt idx="2">
                  <c:v>800</c:v>
                </c:pt>
                <c:pt idx="3">
                  <c:v>1000</c:v>
                </c:pt>
              </c:numCache>
            </c:numRef>
          </c:val>
        </c:ser>
        <c:dLbls>
          <c:showLegendKey val="0"/>
          <c:showVal val="0"/>
          <c:showCatName val="0"/>
          <c:showSerName val="0"/>
          <c:showPercent val="1"/>
          <c:showBubbleSize val="0"/>
          <c:showLeaderLines val="1"/>
        </c:dLbls>
        <c:gapWidth val="100"/>
        <c:secondPieSize val="75"/>
        <c:serLines>
          <c:spPr>
            <a:ln w="9525">
              <a:solidFill>
                <a:schemeClr val="dk1">
                  <a:lumMod val="50000"/>
                  <a:lumOff val="50000"/>
                </a:schemeClr>
              </a:solidFill>
              <a:round/>
            </a:ln>
            <a:effectLst/>
          </c:spPr>
        </c:serLines>
      </c:ofPieChart>
      <c:spPr>
        <a:noFill/>
        <a:ln>
          <a:noFill/>
        </a:ln>
        <a:effectLst/>
      </c:spPr>
    </c:plotArea>
    <c:legend>
      <c:legendPos val="r"/>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50000"/>
            <a:lumOff val="50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4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400" b="0" strike="noStrike" spc="-1">
                <a:solidFill>
                  <a:srgbClr val="000000"/>
                </a:solidFill>
                <a:latin typeface="Arial"/>
              </a:rPr>
              <a:t>Click to move the slide</a:t>
            </a:r>
            <a:endParaRPr lang="en-US" sz="1400" b="0" strike="noStrike" spc="-1">
              <a:solidFill>
                <a:srgbClr val="000000"/>
              </a:solidFill>
              <a:latin typeface="Arial"/>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marL="215900" indent="-215900">
              <a:buNone/>
            </a:pPr>
            <a:r>
              <a:rPr lang="en-US" sz="2000" b="0" strike="noStrike" spc="-1">
                <a:solidFill>
                  <a:srgbClr val="000000"/>
                </a:solidFill>
                <a:latin typeface="Arial"/>
              </a:rPr>
              <a:t>Click to edit the notes format</a:t>
            </a:r>
            <a:endParaRPr lang="en-US" sz="2000" b="0" strike="noStrike" spc="-1">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buNone/>
            </a:pPr>
            <a:r>
              <a:rPr lang="en-US" sz="1400" b="0" strike="noStrike" spc="-1">
                <a:solidFill>
                  <a:srgbClr val="000000"/>
                </a:solidFill>
                <a:latin typeface="Times New Roman"/>
              </a:rPr>
              <a:t>&lt;header&gt;</a:t>
            </a:r>
            <a:endParaRPr lang="en-US" sz="1400" b="0" strike="noStrike" spc="-1">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D44874F4-03C6-42DE-B540-1E3E54C00B6C}" type="slidenum">
              <a:rPr lang="en-US" sz="1400" b="0" strike="noStrike" spc="-1">
                <a:solidFill>
                  <a:srgbClr val="000000"/>
                </a:solidFill>
                <a:latin typeface="Times New Roman"/>
              </a:rPr>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p>
            <a:pPr indent="0">
              <a:lnSpc>
                <a:spcPct val="100000"/>
              </a:lnSpc>
              <a:buNone/>
              <a:tabLst>
                <a:tab pos="0" algn="l"/>
              </a:tabLst>
            </a:pPr>
            <a:r>
              <a:rPr lang="en-US" sz="1100" b="0" strike="noStrike" spc="-1">
                <a:solidFill>
                  <a:schemeClr val="dk1"/>
                </a:solidFill>
                <a:latin typeface="Arial"/>
                <a:ea typeface="Arial"/>
              </a:rPr>
              <a:t>PLEASE DO NOT USE THIS TEMPLATE AS IT IS, THE HEADINGS AND NOTES CONTAINED INSIDE ARE TO GUIDE YOU, WE EXPECT YOU TO EDIT IT ACCORDINGLY, USE YOUR COLOURS, LOGO, DESIGN ETC.</a:t>
            </a:r>
            <a:endParaRPr lang="en-US" sz="1100" b="0" strike="noStrike" spc="-1">
              <a:solidFill>
                <a:srgbClr val="000000"/>
              </a:solidFill>
              <a:latin typeface="Arial"/>
            </a:endParaRPr>
          </a:p>
        </p:txBody>
      </p:sp>
      <p:sp>
        <p:nvSpPr>
          <p:cNvPr id="203" name="PlaceHolder 2"/>
          <p:cNvSpPr>
            <a:spLocks noGrp="1"/>
          </p:cNvSpPr>
          <p:nvPr>
            <p:ph type="sldImg"/>
          </p:nvPr>
        </p:nvSpPr>
        <p:spPr>
          <a:xfrm>
            <a:off x="380880" y="685800"/>
            <a:ext cx="6095520" cy="3428640"/>
          </a:xfrm>
          <a:prstGeom prst="rect">
            <a:avLst/>
          </a:prstGeom>
          <a:ln w="0">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620AA9E6-0E31-4617-B55A-786A5D3C37C6}" type="slidenum">
              <a:rPr/>
            </a:fld>
            <a:endParaRPr/>
          </a:p>
        </p:txBody>
      </p:sp>
      <p:sp>
        <p:nvSpPr>
          <p:cNvPr id="4" name="PlaceHolder 3"/>
          <p:cNvSpPr>
            <a:spLocks noGrp="1"/>
          </p:cNvSpPr>
          <p:nvPr>
            <p:ph type="dt" idx="1"/>
          </p:nvPr>
        </p:nvSpPr>
        <p:spPr/>
        <p:txBody>
          <a:bodyPr/>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B6241F2E-DBD3-40F8-8794-C0FCB2493AB0}" type="slidenum">
              <a:rPr/>
            </a:fld>
            <a:endParaRPr/>
          </a:p>
        </p:txBody>
      </p:sp>
      <p:sp>
        <p:nvSpPr>
          <p:cNvPr id="4" name="PlaceHolder 3"/>
          <p:cNvSpPr>
            <a:spLocks noGrp="1"/>
          </p:cNvSpPr>
          <p:nvPr>
            <p:ph type="dt" idx="4"/>
          </p:nvPr>
        </p:nvSpPr>
        <p:spPr/>
        <p:txBody>
          <a:bodyPr/>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2DE7A88-A0BC-4FF5-B59D-EA4321C99156}" type="slidenum">
              <a:rPr/>
            </a:fld>
            <a:endParaRPr/>
          </a:p>
        </p:txBody>
      </p:sp>
      <p:sp>
        <p:nvSpPr>
          <p:cNvPr id="4" name="PlaceHolder 3"/>
          <p:cNvSpPr>
            <a:spLocks noGrp="1"/>
          </p:cNvSpPr>
          <p:nvPr>
            <p:ph type="dt" idx="7"/>
          </p:nvPr>
        </p:nvSpPr>
        <p:spPr/>
        <p:txBody>
          <a:bodyPr/>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endParaRPr lang="en-US" sz="1400" b="0" strike="noStrike" spc="-1">
              <a:solidFill>
                <a:srgbClr val="000000"/>
              </a:solidFill>
              <a:latin typeface="Arial"/>
            </a:endParaRPr>
          </a:p>
        </p:txBody>
      </p:sp>
      <p:sp>
        <p:nvSpPr>
          <p:cNvPr id="20"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p>
            <a:pPr indent="0" algn="ctr">
              <a:buNone/>
            </a:pPr>
            <a:endParaRPr lang="en-US" sz="3200" b="0" strike="noStrike" spc="-1">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48089EF-CD5E-4B68-AE1C-8961660CD67B}" type="slidenum">
              <a:rPr/>
            </a:fld>
            <a:endParaRPr/>
          </a:p>
        </p:txBody>
      </p:sp>
      <p:sp>
        <p:nvSpPr>
          <p:cNvPr id="6" name="PlaceHolder 5"/>
          <p:cNvSpPr>
            <a:spLocks noGrp="1"/>
          </p:cNvSpPr>
          <p:nvPr>
            <p:ph type="dt" idx="10"/>
          </p:nvPr>
        </p:nvSpPr>
        <p:spPr/>
        <p:txBody>
          <a:bodyPr/>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BJEC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endParaRPr lang="en-US" sz="1400" b="0" strike="noStrike" spc="-1">
              <a:solidFill>
                <a:srgbClr val="000000"/>
              </a:solidFill>
              <a:latin typeface="Arial"/>
            </a:endParaRPr>
          </a:p>
        </p:txBody>
      </p:sp>
      <p:sp>
        <p:nvSpPr>
          <p:cNvPr id="27" name="PlaceHolder 2"/>
          <p:cNvSpPr>
            <a:spLocks noGrp="1"/>
          </p:cNvSpPr>
          <p:nvPr>
            <p:ph/>
          </p:nvPr>
        </p:nvSpPr>
        <p:spPr>
          <a:xfrm>
            <a:off x="914400" y="2406960"/>
            <a:ext cx="16458840" cy="5965920"/>
          </a:xfrm>
          <a:prstGeom prst="rect">
            <a:avLst/>
          </a:prstGeom>
          <a:noFill/>
          <a:ln w="0">
            <a:noFill/>
          </a:ln>
        </p:spPr>
        <p:txBody>
          <a:bodyPr lIns="0" tIns="0" rIns="0" bIns="0" anchor="t">
            <a:normAutofit/>
          </a:bodyPr>
          <a:p>
            <a:pPr indent="0">
              <a:spcBef>
                <a:spcPts val="1415"/>
              </a:spcBef>
              <a:buNone/>
            </a:pPr>
            <a:endParaRPr lang="en-US" sz="1400" b="0" strike="noStrike" spc="-1">
              <a:solidFill>
                <a:srgbClr val="000000"/>
              </a:solidFill>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444BBE0-998F-4067-9A40-0F55E2EEA128}" type="slidenum">
              <a:rPr/>
            </a:fld>
            <a:endParaRPr/>
          </a:p>
        </p:txBody>
      </p:sp>
      <p:sp>
        <p:nvSpPr>
          <p:cNvPr id="6" name="PlaceHolder 5"/>
          <p:cNvSpPr>
            <a:spLocks noGrp="1"/>
          </p:cNvSpPr>
          <p:nvPr>
            <p:ph type="dt" idx="13"/>
          </p:nvPr>
        </p:nvSpPr>
        <p:spPr/>
        <p:txBody>
          <a:bodyPr/>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977A908D-F1BC-46EA-8EB7-4E2145F155EE}" type="slidenum">
              <a:rPr/>
            </a:fld>
            <a:endParaRPr/>
          </a:p>
        </p:txBody>
      </p:sp>
      <p:sp>
        <p:nvSpPr>
          <p:cNvPr id="4" name="PlaceHolder 3"/>
          <p:cNvSpPr>
            <a:spLocks noGrp="1"/>
          </p:cNvSpPr>
          <p:nvPr>
            <p:ph type="dt" idx="16"/>
          </p:nvPr>
        </p:nvSpPr>
        <p:spPr/>
        <p:txBody>
          <a:bodyPr/>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_OBJECTS">
    <p:spTree>
      <p:nvGrpSpPr>
        <p:cNvPr id="1" name=""/>
        <p:cNvGrpSpPr/>
        <p:nvPr/>
      </p:nvGrpSpPr>
      <p:grpSpPr>
        <a:xfrm>
          <a:off x="0" y="0"/>
          <a:ext cx="0" cy="0"/>
          <a:chOff x="0" y="0"/>
          <a:chExt cx="0" cy="0"/>
        </a:xfrm>
      </p:grpSpPr>
      <p:sp>
        <p:nvSpPr>
          <p:cNvPr id="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endParaRPr lang="en-US" sz="1400" b="0" strike="noStrike" spc="-1">
              <a:solidFill>
                <a:srgbClr val="000000"/>
              </a:solidFill>
              <a:latin typeface="Arial"/>
            </a:endParaRPr>
          </a:p>
        </p:txBody>
      </p:sp>
      <p:sp>
        <p:nvSpPr>
          <p:cNvPr id="40" name="PlaceHolder 2"/>
          <p:cNvSpPr>
            <a:spLocks noGrp="1"/>
          </p:cNvSpPr>
          <p:nvPr>
            <p:ph/>
          </p:nvPr>
        </p:nvSpPr>
        <p:spPr>
          <a:xfrm>
            <a:off x="914400" y="2406960"/>
            <a:ext cx="8031600" cy="5965920"/>
          </a:xfrm>
          <a:prstGeom prst="rect">
            <a:avLst/>
          </a:prstGeom>
          <a:noFill/>
          <a:ln w="0">
            <a:noFill/>
          </a:ln>
        </p:spPr>
        <p:txBody>
          <a:bodyPr lIns="0" tIns="0" rIns="0" bIns="0" anchor="t">
            <a:normAutofit fontScale="74983" lnSpcReduction="20000"/>
          </a:bodyPr>
          <a:p>
            <a:pPr indent="0">
              <a:spcBef>
                <a:spcPts val="1415"/>
              </a:spcBef>
              <a:buNone/>
            </a:pPr>
            <a:endParaRPr lang="en-US" sz="1400" b="0" strike="noStrike" spc="-1">
              <a:solidFill>
                <a:srgbClr val="000000"/>
              </a:solidFill>
              <a:latin typeface="Arial"/>
            </a:endParaRPr>
          </a:p>
        </p:txBody>
      </p:sp>
      <p:sp>
        <p:nvSpPr>
          <p:cNvPr id="41" name="PlaceHolder 3"/>
          <p:cNvSpPr>
            <a:spLocks noGrp="1"/>
          </p:cNvSpPr>
          <p:nvPr>
            <p:ph/>
          </p:nvPr>
        </p:nvSpPr>
        <p:spPr>
          <a:xfrm>
            <a:off x="9348120" y="2406960"/>
            <a:ext cx="8031600" cy="5965920"/>
          </a:xfrm>
          <a:prstGeom prst="rect">
            <a:avLst/>
          </a:prstGeom>
          <a:noFill/>
          <a:ln w="0">
            <a:noFill/>
          </a:ln>
        </p:spPr>
        <p:txBody>
          <a:bodyPr lIns="0" tIns="0" rIns="0" bIns="0" anchor="t">
            <a:normAutofit fontScale="74983" lnSpcReduction="20000"/>
          </a:bodyPr>
          <a:p>
            <a:pPr indent="0">
              <a:spcBef>
                <a:spcPts val="1415"/>
              </a:spcBef>
              <a:buNone/>
            </a:pPr>
            <a:endParaRPr lang="en-US" sz="1400" b="0" strike="noStrike" spc="-1">
              <a:solidFill>
                <a:srgbClr val="000000"/>
              </a:solidFill>
              <a:latin typeface="Arial"/>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9B5E693-764A-48BE-8DBC-DC9DF291FA96}" type="slidenum">
              <a:rPr/>
            </a:fld>
            <a:endParaRPr/>
          </a:p>
        </p:txBody>
      </p:sp>
      <p:sp>
        <p:nvSpPr>
          <p:cNvPr id="7" name="PlaceHolder 6"/>
          <p:cNvSpPr>
            <a:spLocks noGrp="1"/>
          </p:cNvSpPr>
          <p:nvPr>
            <p:ph type="dt" idx="19"/>
          </p:nvPr>
        </p:nvSpPr>
        <p:spPr/>
        <p:txBody>
          <a:bodyPr/>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83F83BBA-B3D9-445F-8227-62544C666EB2}" type="slidenum">
              <a:rPr/>
            </a:fld>
            <a:endParaRPr/>
          </a:p>
        </p:txBody>
      </p:sp>
      <p:sp>
        <p:nvSpPr>
          <p:cNvPr id="4" name="PlaceHolder 3"/>
          <p:cNvSpPr>
            <a:spLocks noGrp="1"/>
          </p:cNvSpPr>
          <p:nvPr>
            <p:ph type="dt" idx="22"/>
          </p:nvPr>
        </p:nvSpPr>
        <p:spPr/>
        <p:txBody>
          <a:bodyPr/>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5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endParaRPr lang="en-US" sz="1400" b="0" strike="noStrike" spc="-1">
              <a:solidFill>
                <a:srgbClr val="000000"/>
              </a:solidFill>
              <a:latin typeface="Arial"/>
            </a:endParaRPr>
          </a:p>
        </p:txBody>
      </p:sp>
      <p:sp>
        <p:nvSpPr>
          <p:cNvPr id="3" name="PlaceHolder 2"/>
          <p:cNvSpPr>
            <a:spLocks noGrp="1"/>
          </p:cNvSpPr>
          <p:nvPr>
            <p:ph type="ftr" idx="26"/>
          </p:nvPr>
        </p:nvSpPr>
        <p:spPr/>
        <p:txBody>
          <a:bodyPr/>
          <a:p>
            <a:r>
              <a:t>Footer</a:t>
            </a:r>
          </a:p>
        </p:txBody>
      </p:sp>
      <p:sp>
        <p:nvSpPr>
          <p:cNvPr id="4" name="PlaceHolder 3"/>
          <p:cNvSpPr>
            <a:spLocks noGrp="1"/>
          </p:cNvSpPr>
          <p:nvPr>
            <p:ph type="sldNum" idx="27"/>
          </p:nvPr>
        </p:nvSpPr>
        <p:spPr/>
        <p:txBody>
          <a:bodyPr/>
          <a:p>
            <a:fld id="{DC7A8F0A-78F0-4031-AF70-2B7F87AB7554}" type="slidenum">
              <a:rPr/>
            </a:fld>
            <a:endParaRPr/>
          </a:p>
        </p:txBody>
      </p:sp>
      <p:sp>
        <p:nvSpPr>
          <p:cNvPr id="5" name="PlaceHolder 4"/>
          <p:cNvSpPr>
            <a:spLocks noGrp="1"/>
          </p:cNvSpPr>
          <p:nvPr>
            <p:ph type="dt" idx="25"/>
          </p:nvPr>
        </p:nvSpPr>
        <p:spPr/>
        <p:txBody>
          <a:bodyPr/>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870BCCBB-0E01-40F9-9FF0-86C53100B575}" type="slidenum">
              <a:rPr/>
            </a:fld>
            <a:endParaRPr/>
          </a:p>
        </p:txBody>
      </p:sp>
      <p:sp>
        <p:nvSpPr>
          <p:cNvPr id="4" name="PlaceHolder 3"/>
          <p:cNvSpPr>
            <a:spLocks noGrp="1"/>
          </p:cNvSpPr>
          <p:nvPr>
            <p:ph type="dt" idx="28"/>
          </p:nvPr>
        </p:nvSpPr>
        <p:spPr/>
        <p:txBody>
          <a:bodyPr/>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2EA1ED8C-ED34-4E55-A1F6-6C8C77310058}" type="slidenum">
              <a:rPr/>
            </a:fld>
            <a:endParaRPr/>
          </a:p>
        </p:txBody>
      </p:sp>
      <p:sp>
        <p:nvSpPr>
          <p:cNvPr id="4" name="PlaceHolder 3"/>
          <p:cNvSpPr>
            <a:spLocks noGrp="1"/>
          </p:cNvSpPr>
          <p:nvPr>
            <p:ph type="dt" idx="31"/>
          </p:nvPr>
        </p:nvSpPr>
        <p:spPr/>
        <p:txBody>
          <a:bodyPr/>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2" name="PlaceHolder 2"/>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3" name="PlaceHolder 3"/>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
        <p:nvSpPr>
          <p:cNvPr id="4"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r>
              <a:rPr lang="en-US" sz="1400" b="0" strike="noStrike" spc="-1">
                <a:solidFill>
                  <a:srgbClr val="000000"/>
                </a:solidFill>
                <a:latin typeface="Arial"/>
              </a:rPr>
              <a:t>Click to edit the title text format</a:t>
            </a:r>
            <a:endParaRPr lang="en-US" sz="1400" b="0" strike="noStrike" spc="-1">
              <a:solidFill>
                <a:srgbClr val="000000"/>
              </a:solidFill>
              <a:latin typeface="Arial"/>
            </a:endParaRPr>
          </a:p>
        </p:txBody>
      </p:sp>
      <p:sp>
        <p:nvSpPr>
          <p:cNvPr id="5"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1400" b="0" strike="noStrike" spc="-1">
                <a:solidFill>
                  <a:srgbClr val="000000"/>
                </a:solidFill>
                <a:latin typeface="Arial"/>
              </a:rPr>
              <a:t>Click to edit the outline text format</a:t>
            </a:r>
            <a:endParaRPr lang="en-US" sz="1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1400" b="0" strike="noStrike" spc="-1">
                <a:solidFill>
                  <a:srgbClr val="000000"/>
                </a:solidFill>
                <a:latin typeface="Arial"/>
              </a:rPr>
              <a:t>Second Outline Level</a:t>
            </a:r>
            <a:endParaRPr lang="en-US" sz="1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1400" b="0" strike="noStrike" spc="-1">
                <a:solidFill>
                  <a:srgbClr val="000000"/>
                </a:solidFill>
                <a:latin typeface="Arial"/>
              </a:rPr>
              <a:t>Third Outline Level</a:t>
            </a:r>
            <a:endParaRPr lang="en-US" sz="1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1400" b="0" strike="noStrike" spc="-1">
                <a:solidFill>
                  <a:srgbClr val="000000"/>
                </a:solidFill>
                <a:latin typeface="Arial"/>
              </a:rPr>
              <a:t>Fourth Outline Level</a:t>
            </a:r>
            <a:endParaRPr lang="en-US" sz="1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Fifth Outline Level</a:t>
            </a:r>
            <a:endParaRPr lang="en-US" sz="20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Sixth Outline Level</a:t>
            </a:r>
            <a:endParaRPr lang="en-US" sz="20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Seventh Outline Level</a:t>
            </a:r>
            <a:endParaRPr lang="en-US" sz="20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6" name="PlaceHolder 2"/>
          <p:cNvSpPr>
            <a:spLocks noGrp="1"/>
          </p:cNvSpPr>
          <p:nvPr>
            <p:ph type="body"/>
          </p:nvPr>
        </p:nvSpPr>
        <p:spPr>
          <a:xfrm rot="5400000">
            <a:off x="2309400" y="-251640"/>
            <a:ext cx="4525560" cy="8229240"/>
          </a:xfrm>
          <a:prstGeom prst="rect">
            <a:avLst/>
          </a:prstGeom>
          <a:noFill/>
          <a:ln w="0">
            <a:noFill/>
          </a:ln>
        </p:spPr>
        <p:txBody>
          <a:bodyPr lIns="91440" tIns="45720" rIns="91440" bIns="45720" anchor="t">
            <a:normAutofit fontScale="74992" lnSpcReduction="20000"/>
          </a:bodyPr>
          <a:p>
            <a:pPr marL="431800" indent="-323850">
              <a:spcBef>
                <a:spcPts val="1415"/>
              </a:spcBef>
              <a:buClr>
                <a:srgbClr val="000000"/>
              </a:buClr>
              <a:buSzPct val="45000"/>
              <a:buFont typeface="Wingdings" panose="05000000000000000000" pitchFamily="2" charset="2"/>
              <a:buChar cha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3200" b="0" strike="noStrike" spc="-1">
                <a:solidFill>
                  <a:srgbClr val="000000"/>
                </a:solidFill>
                <a:latin typeface="Arial"/>
              </a:rPr>
              <a:t>Second Outline Level</a:t>
            </a:r>
            <a:endParaRPr lang="en-US" sz="32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3200" b="0" strike="noStrike" spc="-1">
                <a:solidFill>
                  <a:srgbClr val="000000"/>
                </a:solidFill>
                <a:latin typeface="Arial"/>
              </a:rPr>
              <a:t>Third Outline Level</a:t>
            </a:r>
            <a:endParaRPr lang="en-US" sz="32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3200" b="0" strike="noStrike" spc="-1">
                <a:solidFill>
                  <a:srgbClr val="000000"/>
                </a:solidFill>
                <a:latin typeface="Arial"/>
              </a:rPr>
              <a:t>Fourth Outline Level</a:t>
            </a:r>
            <a:endParaRPr lang="en-US" sz="32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Fifth Outline Level</a:t>
            </a:r>
            <a:endParaRPr lang="en-US" sz="32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Sixth Outline Level</a:t>
            </a:r>
            <a:endParaRPr lang="en-US" sz="32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Seventh Outline Level</a:t>
            </a:r>
            <a:endParaRPr lang="en-US" sz="3200" b="0" strike="noStrike" spc="-1">
              <a:solidFill>
                <a:srgbClr val="000000"/>
              </a:solidFill>
              <a:latin typeface="Arial"/>
            </a:endParaRPr>
          </a:p>
        </p:txBody>
      </p:sp>
      <p:sp>
        <p:nvSpPr>
          <p:cNvPr id="7"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8"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9"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rot="5400000">
            <a:off x="4732560" y="2171520"/>
            <a:ext cx="5851080" cy="20570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11" name="PlaceHolder 2"/>
          <p:cNvSpPr>
            <a:spLocks noGrp="1"/>
          </p:cNvSpPr>
          <p:nvPr>
            <p:ph type="body"/>
          </p:nvPr>
        </p:nvSpPr>
        <p:spPr>
          <a:xfrm rot="5400000">
            <a:off x="541800" y="190080"/>
            <a:ext cx="5851080" cy="6019560"/>
          </a:xfrm>
          <a:prstGeom prst="rect">
            <a:avLst/>
          </a:prstGeom>
          <a:noFill/>
          <a:ln w="0">
            <a:noFill/>
          </a:ln>
        </p:spPr>
        <p:txBody>
          <a:bodyPr lIns="91440" tIns="45720" rIns="91440" bIns="45720" anchor="t">
            <a:normAutofit/>
          </a:bodyPr>
          <a:p>
            <a:pPr marL="431800" indent="-323850">
              <a:spcBef>
                <a:spcPts val="1415"/>
              </a:spcBef>
              <a:buClr>
                <a:srgbClr val="000000"/>
              </a:buClr>
              <a:buSzPct val="45000"/>
              <a:buFont typeface="Wingdings" panose="05000000000000000000" pitchFamily="2" charset="2"/>
              <a:buChar cha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3200" b="0" strike="noStrike" spc="-1">
                <a:solidFill>
                  <a:srgbClr val="000000"/>
                </a:solidFill>
                <a:latin typeface="Arial"/>
              </a:rPr>
              <a:t>Second Outline Level</a:t>
            </a:r>
            <a:endParaRPr lang="en-US" sz="32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3200" b="0" strike="noStrike" spc="-1">
                <a:solidFill>
                  <a:srgbClr val="000000"/>
                </a:solidFill>
                <a:latin typeface="Arial"/>
              </a:rPr>
              <a:t>Third Outline Level</a:t>
            </a:r>
            <a:endParaRPr lang="en-US" sz="32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3200" b="0" strike="noStrike" spc="-1">
                <a:solidFill>
                  <a:srgbClr val="000000"/>
                </a:solidFill>
                <a:latin typeface="Arial"/>
              </a:rPr>
              <a:t>Fourth Outline Level</a:t>
            </a:r>
            <a:endParaRPr lang="en-US" sz="32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Fifth Outline Level</a:t>
            </a:r>
            <a:endParaRPr lang="en-US" sz="32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Sixth Outline Level</a:t>
            </a:r>
            <a:endParaRPr lang="en-US" sz="32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Seventh Outline Level</a:t>
            </a:r>
            <a:endParaRPr lang="en-US" sz="3200" b="0" strike="noStrike" spc="-1">
              <a:solidFill>
                <a:srgbClr val="000000"/>
              </a:solidFill>
              <a:latin typeface="Arial"/>
            </a:endParaRPr>
          </a:p>
        </p:txBody>
      </p:sp>
      <p:sp>
        <p:nvSpPr>
          <p:cNvPr id="12"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13"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14"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16" name="PlaceHolder 2"/>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17" name="PlaceHolder 3"/>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18" name="PlaceHolder 4"/>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22"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rmAutofit/>
          </a:bodyPr>
          <a:p>
            <a:pPr marL="431800" indent="-323850">
              <a:spcBef>
                <a:spcPts val="1415"/>
              </a:spcBef>
              <a:buClr>
                <a:srgbClr val="000000"/>
              </a:buClr>
              <a:buSzPct val="45000"/>
              <a:buFont typeface="Wingdings" panose="05000000000000000000" pitchFamily="2" charset="2"/>
              <a:buChar cha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3200" b="0" strike="noStrike" spc="-1">
                <a:solidFill>
                  <a:srgbClr val="000000"/>
                </a:solidFill>
                <a:latin typeface="Arial"/>
              </a:rPr>
              <a:t>Second Outline Level</a:t>
            </a:r>
            <a:endParaRPr lang="en-US" sz="32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3200" b="0" strike="noStrike" spc="-1">
                <a:solidFill>
                  <a:srgbClr val="000000"/>
                </a:solidFill>
                <a:latin typeface="Arial"/>
              </a:rPr>
              <a:t>Third Outline Level</a:t>
            </a:r>
            <a:endParaRPr lang="en-US" sz="32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3200" b="0" strike="noStrike" spc="-1">
                <a:solidFill>
                  <a:srgbClr val="000000"/>
                </a:solidFill>
                <a:latin typeface="Arial"/>
              </a:rPr>
              <a:t>Fourth Outline Level</a:t>
            </a:r>
            <a:endParaRPr lang="en-US" sz="32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Fifth Outline Level</a:t>
            </a:r>
            <a:endParaRPr lang="en-US" sz="32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Sixth Outline Level</a:t>
            </a:r>
            <a:endParaRPr lang="en-US" sz="32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Seventh Outline Level</a:t>
            </a:r>
            <a:endParaRPr lang="en-US" sz="3200" b="0" strike="noStrike" spc="-1">
              <a:solidFill>
                <a:srgbClr val="000000"/>
              </a:solidFill>
              <a:latin typeface="Arial"/>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rmAutofit/>
          </a:bodyPr>
          <a:p>
            <a:pPr indent="0">
              <a:buNone/>
            </a:pPr>
            <a:r>
              <a:rPr lang="en-US" sz="4000" b="0" strike="noStrike" spc="-1">
                <a:solidFill>
                  <a:srgbClr val="000000"/>
                </a:solidFill>
                <a:latin typeface="Arial"/>
              </a:rPr>
              <a:t>Click to edit the title text format</a:t>
            </a:r>
            <a:endParaRPr lang="en-US" sz="4000" b="0" strike="noStrike" spc="-1">
              <a:solidFill>
                <a:srgbClr val="000000"/>
              </a:solidFill>
              <a:latin typeface="Arial"/>
            </a:endParaRPr>
          </a:p>
        </p:txBody>
      </p:sp>
      <p:sp>
        <p:nvSpPr>
          <p:cNvPr id="29"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rmAutofit fontScale="43472"/>
          </a:bodyPr>
          <a:p>
            <a:pPr marL="431800" indent="-323850">
              <a:spcBef>
                <a:spcPts val="1415"/>
              </a:spcBef>
              <a:buClr>
                <a:srgbClr val="000000"/>
              </a:buClr>
              <a:buSzPct val="45000"/>
              <a:buFont typeface="Wingdings" panose="05000000000000000000" pitchFamily="2" charset="2"/>
              <a:buChar char=""/>
            </a:pPr>
            <a:r>
              <a:rPr lang="en-US" sz="2000" b="0" strike="noStrike" spc="-1">
                <a:solidFill>
                  <a:srgbClr val="000000"/>
                </a:solidFill>
                <a:latin typeface="Arial"/>
              </a:rPr>
              <a:t>Click to edit the outline text format</a:t>
            </a:r>
            <a:endParaRPr lang="en-US" sz="20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000" b="0" strike="noStrike" spc="-1">
                <a:solidFill>
                  <a:srgbClr val="000000"/>
                </a:solidFill>
                <a:latin typeface="Arial"/>
              </a:rPr>
              <a:t>Second Outline Level</a:t>
            </a:r>
            <a:endParaRPr lang="en-US" sz="20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000" b="0" strike="noStrike" spc="-1">
                <a:solidFill>
                  <a:srgbClr val="000000"/>
                </a:solidFill>
                <a:latin typeface="Arial"/>
              </a:rPr>
              <a:t>Third Outline Level</a:t>
            </a:r>
            <a:endParaRPr lang="en-US" sz="20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000" b="0" strike="noStrike" spc="-1">
                <a:solidFill>
                  <a:srgbClr val="000000"/>
                </a:solidFill>
                <a:latin typeface="Arial"/>
              </a:rPr>
              <a:t>Fourth Outline Level</a:t>
            </a:r>
            <a:endParaRPr lang="en-US" sz="20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Fifth Outline Level</a:t>
            </a:r>
            <a:endParaRPr lang="en-US" sz="20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Sixth Outline Level</a:t>
            </a:r>
            <a:endParaRPr lang="en-US" sz="20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Seventh Outline Level</a:t>
            </a:r>
            <a:endParaRPr lang="en-US" sz="2000" b="0" strike="noStrike" spc="-1">
              <a:solidFill>
                <a:srgbClr val="000000"/>
              </a:solidFill>
              <a:latin typeface="Arial"/>
            </a:endParaRPr>
          </a:p>
        </p:txBody>
      </p:sp>
      <p:sp>
        <p:nvSpPr>
          <p:cNvPr id="30" name="PlaceHolder 3"/>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31" name="PlaceHolder 4"/>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32" name="PlaceHolder 5"/>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p:bodyStyle/>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34"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rmAutofit fontScale="74983" lnSpcReduction="20000"/>
          </a:bodyPr>
          <a:p>
            <a:pPr marL="431800" indent="-323850">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a:rPr>
              <a:t>Click to edit the outline text format</a:t>
            </a:r>
            <a:endParaRPr lang="en-US" sz="28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800" b="0" strike="noStrike" spc="-1">
                <a:solidFill>
                  <a:srgbClr val="000000"/>
                </a:solidFill>
                <a:latin typeface="Arial"/>
              </a:rPr>
              <a:t>Second Outline Level</a:t>
            </a:r>
            <a:endParaRPr lang="en-US" sz="28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800" b="0" strike="noStrike" spc="-1">
                <a:solidFill>
                  <a:srgbClr val="000000"/>
                </a:solidFill>
                <a:latin typeface="Arial"/>
              </a:rPr>
              <a:t>Third Outline Level</a:t>
            </a:r>
            <a:endParaRPr lang="en-US" sz="28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800" b="0" strike="noStrike" spc="-1">
                <a:solidFill>
                  <a:srgbClr val="000000"/>
                </a:solidFill>
                <a:latin typeface="Arial"/>
              </a:rPr>
              <a:t>Fourth Outline Level</a:t>
            </a:r>
            <a:endParaRPr lang="en-US" sz="28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Fifth Outline Level</a:t>
            </a:r>
            <a:endParaRPr lang="en-US" sz="28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Sixth Outline Level</a:t>
            </a:r>
            <a:endParaRPr lang="en-US" sz="28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Seventh Outline Level</a:t>
            </a:r>
            <a:endParaRPr lang="en-US" sz="2800" b="0" strike="noStrike" spc="-1">
              <a:solidFill>
                <a:srgbClr val="000000"/>
              </a:solidFill>
              <a:latin typeface="Arial"/>
            </a:endParaRPr>
          </a:p>
        </p:txBody>
      </p:sp>
      <p:sp>
        <p:nvSpPr>
          <p:cNvPr id="35"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rmAutofit fontScale="74983" lnSpcReduction="20000"/>
          </a:bodyPr>
          <a:p>
            <a:pPr marL="431800" indent="-323850">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a:rPr>
              <a:t>Click to edit the outline text format</a:t>
            </a:r>
            <a:endParaRPr lang="en-US" sz="28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800" b="0" strike="noStrike" spc="-1">
                <a:solidFill>
                  <a:srgbClr val="000000"/>
                </a:solidFill>
                <a:latin typeface="Arial"/>
              </a:rPr>
              <a:t>Second Outline Level</a:t>
            </a:r>
            <a:endParaRPr lang="en-US" sz="28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800" b="0" strike="noStrike" spc="-1">
                <a:solidFill>
                  <a:srgbClr val="000000"/>
                </a:solidFill>
                <a:latin typeface="Arial"/>
              </a:rPr>
              <a:t>Third Outline Level</a:t>
            </a:r>
            <a:endParaRPr lang="en-US" sz="28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800" b="0" strike="noStrike" spc="-1">
                <a:solidFill>
                  <a:srgbClr val="000000"/>
                </a:solidFill>
                <a:latin typeface="Arial"/>
              </a:rPr>
              <a:t>Fourth Outline Level</a:t>
            </a:r>
            <a:endParaRPr lang="en-US" sz="28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Fifth Outline Level</a:t>
            </a:r>
            <a:endParaRPr lang="en-US" sz="28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Sixth Outline Level</a:t>
            </a:r>
            <a:endParaRPr lang="en-US" sz="28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Seventh Outline Level</a:t>
            </a:r>
            <a:endParaRPr lang="en-US" sz="2800" b="0" strike="noStrike" spc="-1">
              <a:solidFill>
                <a:srgbClr val="000000"/>
              </a:solidFill>
              <a:latin typeface="Arial"/>
            </a:endParaRPr>
          </a:p>
        </p:txBody>
      </p:sp>
      <p:sp>
        <p:nvSpPr>
          <p:cNvPr id="36" name="PlaceHolder 4"/>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37" name="PlaceHolder 5"/>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38" name="PlaceHolder 6"/>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p:bodyStyle/>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4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rmAutofit fontScale="6247"/>
          </a:bodyPr>
          <a:p>
            <a:pPr marL="431800" indent="-323850">
              <a:spcBef>
                <a:spcPts val="1415"/>
              </a:spcBef>
              <a:buClr>
                <a:srgbClr val="000000"/>
              </a:buClr>
              <a:buSzPct val="45000"/>
              <a:buFont typeface="Wingdings" panose="05000000000000000000" pitchFamily="2" charset="2"/>
              <a:buChar char=""/>
            </a:pPr>
            <a:r>
              <a:rPr lang="en-US" sz="2400" b="0" strike="noStrike" spc="-1">
                <a:solidFill>
                  <a:srgbClr val="000000"/>
                </a:solidFill>
                <a:latin typeface="Arial"/>
              </a:rPr>
              <a:t>Click to edit the outline text format</a:t>
            </a:r>
            <a:endParaRPr lang="en-US" sz="2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400" b="0" strike="noStrike" spc="-1">
                <a:solidFill>
                  <a:srgbClr val="000000"/>
                </a:solidFill>
                <a:latin typeface="Arial"/>
              </a:rPr>
              <a:t>Second Outline Level</a:t>
            </a:r>
            <a:endParaRPr lang="en-US" sz="2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400" b="0" strike="noStrike" spc="-1">
                <a:solidFill>
                  <a:srgbClr val="000000"/>
                </a:solidFill>
                <a:latin typeface="Arial"/>
              </a:rPr>
              <a:t>Fourth Outline Level</a:t>
            </a:r>
            <a:endParaRPr lang="en-US" sz="2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Fifth Outline Level</a:t>
            </a:r>
            <a:endParaRPr lang="en-US" sz="2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Sixth Outline Level</a:t>
            </a:r>
            <a:endParaRPr lang="en-US" sz="2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Seventh Outline Level</a:t>
            </a:r>
            <a:endParaRPr lang="en-US" sz="2400" b="0" strike="noStrike" spc="-1">
              <a:solidFill>
                <a:srgbClr val="000000"/>
              </a:solidFill>
              <a:latin typeface="Arial"/>
            </a:endParaRPr>
          </a:p>
        </p:txBody>
      </p:sp>
      <p:sp>
        <p:nvSpPr>
          <p:cNvPr id="4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rmAutofit fontScale="74970" lnSpcReduction="10000"/>
          </a:bodyPr>
          <a:p>
            <a:pPr marL="431800" indent="-323850">
              <a:spcBef>
                <a:spcPts val="1415"/>
              </a:spcBef>
              <a:buClr>
                <a:srgbClr val="000000"/>
              </a:buClr>
              <a:buSzPct val="45000"/>
              <a:buFont typeface="Wingdings" panose="05000000000000000000" pitchFamily="2" charset="2"/>
              <a:buChar char=""/>
            </a:pPr>
            <a:r>
              <a:rPr lang="en-US" sz="2400" b="0" strike="noStrike" spc="-1">
                <a:solidFill>
                  <a:srgbClr val="000000"/>
                </a:solidFill>
                <a:latin typeface="Arial"/>
              </a:rPr>
              <a:t>Click to edit the outline text format</a:t>
            </a:r>
            <a:endParaRPr lang="en-US" sz="2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400" b="0" strike="noStrike" spc="-1">
                <a:solidFill>
                  <a:srgbClr val="000000"/>
                </a:solidFill>
                <a:latin typeface="Arial"/>
              </a:rPr>
              <a:t>Second Outline Level</a:t>
            </a:r>
            <a:endParaRPr lang="en-US" sz="2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400" b="0" strike="noStrike" spc="-1">
                <a:solidFill>
                  <a:srgbClr val="000000"/>
                </a:solidFill>
                <a:latin typeface="Arial"/>
              </a:rPr>
              <a:t>Fourth Outline Level</a:t>
            </a:r>
            <a:endParaRPr lang="en-US" sz="2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Fifth Outline Level</a:t>
            </a:r>
            <a:endParaRPr lang="en-US" sz="2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Sixth Outline Level</a:t>
            </a:r>
            <a:endParaRPr lang="en-US" sz="2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Seventh Outline Level</a:t>
            </a:r>
            <a:endParaRPr lang="en-US" sz="2400" b="0" strike="noStrike" spc="-1">
              <a:solidFill>
                <a:srgbClr val="000000"/>
              </a:solidFill>
              <a:latin typeface="Arial"/>
            </a:endParaRPr>
          </a:p>
        </p:txBody>
      </p:sp>
      <p:sp>
        <p:nvSpPr>
          <p:cNvPr id="4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rmAutofit fontScale="6247"/>
          </a:bodyPr>
          <a:p>
            <a:pPr marL="431800" indent="-323850">
              <a:spcBef>
                <a:spcPts val="1415"/>
              </a:spcBef>
              <a:buClr>
                <a:srgbClr val="000000"/>
              </a:buClr>
              <a:buSzPct val="45000"/>
              <a:buFont typeface="Wingdings" panose="05000000000000000000" pitchFamily="2" charset="2"/>
              <a:buChar char=""/>
            </a:pPr>
            <a:r>
              <a:rPr lang="en-US" sz="2400" b="0" strike="noStrike" spc="-1">
                <a:solidFill>
                  <a:srgbClr val="000000"/>
                </a:solidFill>
                <a:latin typeface="Arial"/>
              </a:rPr>
              <a:t>Click to edit the outline text format</a:t>
            </a:r>
            <a:endParaRPr lang="en-US" sz="2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400" b="0" strike="noStrike" spc="-1">
                <a:solidFill>
                  <a:srgbClr val="000000"/>
                </a:solidFill>
                <a:latin typeface="Arial"/>
              </a:rPr>
              <a:t>Second Outline Level</a:t>
            </a:r>
            <a:endParaRPr lang="en-US" sz="2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400" b="0" strike="noStrike" spc="-1">
                <a:solidFill>
                  <a:srgbClr val="000000"/>
                </a:solidFill>
                <a:latin typeface="Arial"/>
              </a:rPr>
              <a:t>Fourth Outline Level</a:t>
            </a:r>
            <a:endParaRPr lang="en-US" sz="2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Fifth Outline Level</a:t>
            </a:r>
            <a:endParaRPr lang="en-US" sz="2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Sixth Outline Level</a:t>
            </a:r>
            <a:endParaRPr lang="en-US" sz="2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Seventh Outline Level</a:t>
            </a:r>
            <a:endParaRPr lang="en-US" sz="2400" b="0" strike="noStrike" spc="-1">
              <a:solidFill>
                <a:srgbClr val="000000"/>
              </a:solidFill>
              <a:latin typeface="Arial"/>
            </a:endParaRPr>
          </a:p>
        </p:txBody>
      </p:sp>
      <p:sp>
        <p:nvSpPr>
          <p:cNvPr id="4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rmAutofit fontScale="74970" lnSpcReduction="10000"/>
          </a:bodyPr>
          <a:p>
            <a:pPr marL="431800" indent="-323850">
              <a:spcBef>
                <a:spcPts val="1415"/>
              </a:spcBef>
              <a:buClr>
                <a:srgbClr val="000000"/>
              </a:buClr>
              <a:buSzPct val="45000"/>
              <a:buFont typeface="Wingdings" panose="05000000000000000000" pitchFamily="2" charset="2"/>
              <a:buChar char=""/>
            </a:pPr>
            <a:r>
              <a:rPr lang="en-US" sz="2400" b="0" strike="noStrike" spc="-1">
                <a:solidFill>
                  <a:srgbClr val="000000"/>
                </a:solidFill>
                <a:latin typeface="Arial"/>
              </a:rPr>
              <a:t>Click to edit the outline text format</a:t>
            </a:r>
            <a:endParaRPr lang="en-US" sz="2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400" b="0" strike="noStrike" spc="-1">
                <a:solidFill>
                  <a:srgbClr val="000000"/>
                </a:solidFill>
                <a:latin typeface="Arial"/>
              </a:rPr>
              <a:t>Second Outline Level</a:t>
            </a:r>
            <a:endParaRPr lang="en-US" sz="2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400" b="0" strike="noStrike" spc="-1">
                <a:solidFill>
                  <a:srgbClr val="000000"/>
                </a:solidFill>
                <a:latin typeface="Arial"/>
              </a:rPr>
              <a:t>Fourth Outline Level</a:t>
            </a:r>
            <a:endParaRPr lang="en-US" sz="2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Fifth Outline Level</a:t>
            </a:r>
            <a:endParaRPr lang="en-US" sz="2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Sixth Outline Level</a:t>
            </a:r>
            <a:endParaRPr lang="en-US" sz="2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Seventh Outline Level</a:t>
            </a:r>
            <a:endParaRPr lang="en-US" sz="2400" b="0" strike="noStrike" spc="-1">
              <a:solidFill>
                <a:srgbClr val="000000"/>
              </a:solidFill>
              <a:latin typeface="Arial"/>
            </a:endParaRPr>
          </a:p>
        </p:txBody>
      </p:sp>
      <p:sp>
        <p:nvSpPr>
          <p:cNvPr id="47" name="PlaceHolder 6"/>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48" name="PlaceHolder 7"/>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49" name="PlaceHolder 8"/>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p:bodyStyle/>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51" name="PlaceHolder 2"/>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52" name="PlaceHolder 3"/>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53" name="PlaceHolder 4"/>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p:bodyStyle/>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rmAutofit/>
          </a:bodyPr>
          <a:p>
            <a:pPr indent="0">
              <a:buNone/>
            </a:pPr>
            <a:r>
              <a:rPr lang="en-US" sz="2000" b="0" strike="noStrike" spc="-1">
                <a:solidFill>
                  <a:srgbClr val="000000"/>
                </a:solidFill>
                <a:latin typeface="Arial"/>
              </a:rPr>
              <a:t>Click to edit the title text format</a:t>
            </a:r>
            <a:endParaRPr lang="en-US" sz="2000" b="0" strike="noStrike" spc="-1">
              <a:solidFill>
                <a:srgbClr val="000000"/>
              </a:solidFill>
              <a:latin typeface="Arial"/>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rmAutofit fontScale="93740" lnSpcReduction="10000"/>
          </a:bodyPr>
          <a:p>
            <a:pPr marL="431800" indent="-323850">
              <a:spcBef>
                <a:spcPts val="1415"/>
              </a:spcBef>
              <a:buClr>
                <a:srgbClr val="000000"/>
              </a:buClr>
              <a:buSzPct val="45000"/>
              <a:buFont typeface="Wingdings" panose="05000000000000000000" pitchFamily="2" charset="2"/>
              <a:buChar cha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3200" b="0" strike="noStrike" spc="-1">
                <a:solidFill>
                  <a:srgbClr val="000000"/>
                </a:solidFill>
                <a:latin typeface="Arial"/>
              </a:rPr>
              <a:t>Second Outline Level</a:t>
            </a:r>
            <a:endParaRPr lang="en-US" sz="32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3200" b="0" strike="noStrike" spc="-1">
                <a:solidFill>
                  <a:srgbClr val="000000"/>
                </a:solidFill>
                <a:latin typeface="Arial"/>
              </a:rPr>
              <a:t>Third Outline Level</a:t>
            </a:r>
            <a:endParaRPr lang="en-US" sz="32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3200" b="0" strike="noStrike" spc="-1">
                <a:solidFill>
                  <a:srgbClr val="000000"/>
                </a:solidFill>
                <a:latin typeface="Arial"/>
              </a:rPr>
              <a:t>Fourth Outline Level</a:t>
            </a:r>
            <a:endParaRPr lang="en-US" sz="32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Fifth Outline Level</a:t>
            </a:r>
            <a:endParaRPr lang="en-US" sz="32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Sixth Outline Level</a:t>
            </a:r>
            <a:endParaRPr lang="en-US" sz="32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Seventh Outline Level</a:t>
            </a:r>
            <a:endParaRPr lang="en-US" sz="3200" b="0" strike="noStrike" spc="-1">
              <a:solidFill>
                <a:srgbClr val="000000"/>
              </a:solidFill>
              <a:latin typeface="Arial"/>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rmAutofit fontScale="74983" lnSpcReduction="20000"/>
          </a:bodyPr>
          <a:p>
            <a:pPr marL="431800" indent="-323850">
              <a:spcBef>
                <a:spcPts val="1415"/>
              </a:spcBef>
              <a:buClr>
                <a:srgbClr val="000000"/>
              </a:buClr>
              <a:buSzPct val="45000"/>
              <a:buFont typeface="Wingdings" panose="05000000000000000000" pitchFamily="2" charset="2"/>
              <a:buChar char=""/>
            </a:pPr>
            <a:r>
              <a:rPr lang="en-US" sz="1400" b="0" strike="noStrike" spc="-1">
                <a:solidFill>
                  <a:srgbClr val="000000"/>
                </a:solidFill>
                <a:latin typeface="Arial"/>
              </a:rPr>
              <a:t>Click to edit the outline text format</a:t>
            </a:r>
            <a:endParaRPr lang="en-US" sz="1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1400" b="0" strike="noStrike" spc="-1">
                <a:solidFill>
                  <a:srgbClr val="000000"/>
                </a:solidFill>
                <a:latin typeface="Arial"/>
              </a:rPr>
              <a:t>Second Outline Level</a:t>
            </a:r>
            <a:endParaRPr lang="en-US" sz="1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1400" b="0" strike="noStrike" spc="-1">
                <a:solidFill>
                  <a:srgbClr val="000000"/>
                </a:solidFill>
                <a:latin typeface="Arial"/>
              </a:rPr>
              <a:t>Third Outline Level</a:t>
            </a:r>
            <a:endParaRPr lang="en-US" sz="1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1400" b="0" strike="noStrike" spc="-1">
                <a:solidFill>
                  <a:srgbClr val="000000"/>
                </a:solidFill>
                <a:latin typeface="Arial"/>
              </a:rPr>
              <a:t>Fourth Outline Level</a:t>
            </a:r>
            <a:endParaRPr lang="en-US" sz="1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Fifth Outline Level</a:t>
            </a:r>
            <a:endParaRPr lang="en-US" sz="1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Sixth Outline Level</a:t>
            </a:r>
            <a:endParaRPr lang="en-US" sz="1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Seventh Outline Level</a:t>
            </a:r>
            <a:endParaRPr lang="en-US" sz="1400" b="0" strike="noStrike" spc="-1">
              <a:solidFill>
                <a:srgbClr val="000000"/>
              </a:solidFill>
              <a:latin typeface="Arial"/>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p:bodyStyle/>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rmAutofit/>
          </a:bodyPr>
          <a:p>
            <a:pPr indent="0">
              <a:buNone/>
            </a:pPr>
            <a:r>
              <a:rPr lang="en-US" sz="2000" b="0" strike="noStrike" spc="-1">
                <a:solidFill>
                  <a:srgbClr val="000000"/>
                </a:solidFill>
                <a:latin typeface="Arial"/>
              </a:rPr>
              <a:t>Click to edit the title text format</a:t>
            </a:r>
            <a:endParaRPr lang="en-US" sz="2000" b="0" strike="noStrike" spc="-1">
              <a:solidFill>
                <a:srgbClr val="000000"/>
              </a:solidFill>
              <a:latin typeface="Arial"/>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en-US" sz="1800" b="0" strike="noStrike" spc="-1">
                <a:solidFill>
                  <a:srgbClr val="000000"/>
                </a:solidFill>
                <a:latin typeface="Arial"/>
              </a:rPr>
              <a:t>Click to edit the outline text format</a:t>
            </a:r>
            <a:endParaRPr lang="en-US" sz="18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1800" b="0" strike="noStrike" spc="-1">
                <a:solidFill>
                  <a:srgbClr val="000000"/>
                </a:solidFill>
                <a:latin typeface="Arial"/>
              </a:rPr>
              <a:t>Second Outline Level</a:t>
            </a:r>
            <a:endParaRPr lang="en-US" sz="18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1800" b="0" strike="noStrike" spc="-1">
                <a:solidFill>
                  <a:srgbClr val="000000"/>
                </a:solidFill>
                <a:latin typeface="Arial"/>
              </a:rPr>
              <a:t>Third Outline Level</a:t>
            </a:r>
            <a:endParaRPr lang="en-US" sz="18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1800" b="0" strike="noStrike" spc="-1">
                <a:solidFill>
                  <a:srgbClr val="000000"/>
                </a:solidFill>
                <a:latin typeface="Arial"/>
              </a:rPr>
              <a:t>Fourth Outline Level</a:t>
            </a:r>
            <a:endParaRPr lang="en-US" sz="18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a:rPr>
              <a:t>Fifth Outline Level</a:t>
            </a:r>
            <a:endParaRPr lang="en-US" sz="18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a:rPr>
              <a:t>Sixth Outline Level</a:t>
            </a:r>
            <a:endParaRPr lang="en-US" sz="18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a:rPr>
              <a:t>Seventh Outline Level</a:t>
            </a:r>
            <a:endParaRPr lang="en-US" sz="1800" b="0" strike="noStrike" spc="-1">
              <a:solidFill>
                <a:srgbClr val="000000"/>
              </a:solidFill>
              <a:latin typeface="Arial"/>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rmAutofit fontScale="24994" lnSpcReduction="10000"/>
          </a:bodyPr>
          <a:p>
            <a:pPr marL="431800" indent="-323850">
              <a:spcBef>
                <a:spcPts val="1415"/>
              </a:spcBef>
              <a:buClr>
                <a:srgbClr val="000000"/>
              </a:buClr>
              <a:buSzPct val="45000"/>
              <a:buFont typeface="Wingdings" panose="05000000000000000000" pitchFamily="2" charset="2"/>
              <a:buChar char=""/>
            </a:pPr>
            <a:r>
              <a:rPr lang="en-US" sz="1400" b="0" strike="noStrike" spc="-1">
                <a:solidFill>
                  <a:srgbClr val="000000"/>
                </a:solidFill>
                <a:latin typeface="Arial"/>
              </a:rPr>
              <a:t>Click to edit the outline text format</a:t>
            </a:r>
            <a:endParaRPr lang="en-US" sz="1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1400" b="0" strike="noStrike" spc="-1">
                <a:solidFill>
                  <a:srgbClr val="000000"/>
                </a:solidFill>
                <a:latin typeface="Arial"/>
              </a:rPr>
              <a:t>Second Outline Level</a:t>
            </a:r>
            <a:endParaRPr lang="en-US" sz="1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1400" b="0" strike="noStrike" spc="-1">
                <a:solidFill>
                  <a:srgbClr val="000000"/>
                </a:solidFill>
                <a:latin typeface="Arial"/>
              </a:rPr>
              <a:t>Third Outline Level</a:t>
            </a:r>
            <a:endParaRPr lang="en-US" sz="1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1400" b="0" strike="noStrike" spc="-1">
                <a:solidFill>
                  <a:srgbClr val="000000"/>
                </a:solidFill>
                <a:latin typeface="Arial"/>
              </a:rPr>
              <a:t>Fourth Outline Level</a:t>
            </a:r>
            <a:endParaRPr lang="en-US" sz="1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Fifth Outline Level</a:t>
            </a:r>
            <a:endParaRPr lang="en-US" sz="1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Sixth Outline Level</a:t>
            </a:r>
            <a:endParaRPr lang="en-US" sz="1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Seventh Outline Level</a:t>
            </a:r>
            <a:endParaRPr lang="en-US" sz="1400" b="0" strike="noStrike" spc="-1">
              <a:solidFill>
                <a:srgbClr val="000000"/>
              </a:solidFill>
              <a:latin typeface="Arial"/>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p:bodyStyle/>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chart" Target="../charts/char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Google Shape;84;p13"/>
          <p:cNvSpPr/>
          <p:nvPr/>
        </p:nvSpPr>
        <p:spPr>
          <a:xfrm>
            <a:off x="-29880" y="7560"/>
            <a:ext cx="18287640" cy="10305000"/>
          </a:xfrm>
          <a:prstGeom prst="rect">
            <a:avLst/>
          </a:prstGeom>
          <a:gradFill rotWithShape="0">
            <a:gsLst>
              <a:gs pos="0">
                <a:srgbClr val="CEE8F5"/>
              </a:gs>
              <a:gs pos="100000">
                <a:srgbClr val="FFFFFF"/>
              </a:gs>
            </a:gsLst>
            <a:lin ang="5400000"/>
          </a:gradFill>
          <a:ln w="9525">
            <a:solidFill>
              <a:srgbClr val="1F497D"/>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r>
              <a:rPr lang="en-US" sz="1400" b="0" strike="noStrike" spc="-1">
                <a:solidFill>
                  <a:srgbClr val="000000"/>
                </a:solidFill>
                <a:latin typeface="Calibri"/>
                <a:ea typeface="Calibri"/>
              </a:rPr>
              <a:t>   </a:t>
            </a:r>
            <a:endParaRPr lang="en-US" sz="1400" b="0" strike="noStrike" spc="-1">
              <a:solidFill>
                <a:srgbClr val="000000"/>
              </a:solidFill>
              <a:latin typeface="Arial"/>
            </a:endParaRPr>
          </a:p>
        </p:txBody>
      </p:sp>
      <p:cxnSp>
        <p:nvCxnSpPr>
          <p:cNvPr id="74" name="Google Shape;85;p13"/>
          <p:cNvCxnSpPr/>
          <p:nvPr/>
        </p:nvCxnSpPr>
        <p:spPr>
          <a:xfrm>
            <a:off x="1074600" y="9577440"/>
            <a:ext cx="16472880" cy="37800"/>
          </a:xfrm>
          <a:prstGeom prst="straightConnector1">
            <a:avLst/>
          </a:prstGeom>
          <a:ln w="38100">
            <a:solidFill>
              <a:srgbClr val="2498D3"/>
            </a:solidFill>
            <a:round/>
          </a:ln>
        </p:spPr>
      </p:cxnSp>
      <p:sp>
        <p:nvSpPr>
          <p:cNvPr id="75" name="Google Shape;86;p13"/>
          <p:cNvSpPr/>
          <p:nvPr/>
        </p:nvSpPr>
        <p:spPr>
          <a:xfrm>
            <a:off x="1074600" y="4226040"/>
            <a:ext cx="8069040" cy="538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40000"/>
              </a:lnSpc>
              <a:tabLst>
                <a:tab pos="0" algn="l"/>
              </a:tabLst>
            </a:pPr>
            <a:endParaRPr lang="en-US" sz="3500" b="0" strike="noStrike" spc="-1">
              <a:solidFill>
                <a:srgbClr val="143642"/>
              </a:solidFill>
              <a:latin typeface="Plus Jakarta Sans ExtraBold"/>
              <a:ea typeface="Plus Jakarta Sans ExtraBold"/>
            </a:endParaRPr>
          </a:p>
        </p:txBody>
      </p:sp>
      <p:sp>
        <p:nvSpPr>
          <p:cNvPr id="76" name="Google Shape;87;p13"/>
          <p:cNvSpPr/>
          <p:nvPr/>
        </p:nvSpPr>
        <p:spPr>
          <a:xfrm>
            <a:off x="1092240" y="2544120"/>
            <a:ext cx="8634600" cy="161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6500" b="0" strike="noStrike" spc="-1">
                <a:solidFill>
                  <a:srgbClr val="143642"/>
                </a:solidFill>
                <a:latin typeface="Open Sans ExtraBold"/>
                <a:ea typeface="Open Sans ExtraBold"/>
              </a:rPr>
              <a:t>MUKUBA UniPod </a:t>
            </a:r>
            <a:endParaRPr lang="en-US" sz="6500" b="0" strike="noStrike" spc="-1">
              <a:solidFill>
                <a:srgbClr val="000000"/>
              </a:solidFill>
              <a:latin typeface="Arial"/>
            </a:endParaRPr>
          </a:p>
          <a:p>
            <a:pPr>
              <a:lnSpc>
                <a:spcPct val="105000"/>
              </a:lnSpc>
              <a:tabLst>
                <a:tab pos="0" algn="l"/>
              </a:tabLst>
            </a:pPr>
            <a:r>
              <a:rPr lang="en-US" sz="3600" b="0" strike="noStrike" spc="-1">
                <a:solidFill>
                  <a:srgbClr val="143642"/>
                </a:solidFill>
                <a:latin typeface="Plus Jakarta Sans Medium"/>
                <a:ea typeface="Plus Jakarta Sans Medium"/>
              </a:rPr>
              <a:t>ROOTLAB IGNITE PROGRAM </a:t>
            </a:r>
            <a:endParaRPr lang="en-US" sz="3600" b="0" strike="noStrike" spc="-1">
              <a:solidFill>
                <a:srgbClr val="000000"/>
              </a:solidFill>
              <a:latin typeface="Arial"/>
            </a:endParaRPr>
          </a:p>
        </p:txBody>
      </p:sp>
      <p:pic>
        <p:nvPicPr>
          <p:cNvPr id="77" name="Google Shape;88;p13"/>
          <p:cNvPicPr/>
          <p:nvPr/>
        </p:nvPicPr>
        <p:blipFill>
          <a:blip r:embed="rId1"/>
          <a:stretch>
            <a:fillRect/>
          </a:stretch>
        </p:blipFill>
        <p:spPr>
          <a:xfrm>
            <a:off x="10170360" y="1529640"/>
            <a:ext cx="7202880" cy="7227000"/>
          </a:xfrm>
          <a:prstGeom prst="rect">
            <a:avLst/>
          </a:prstGeom>
          <a:ln w="0">
            <a:noFill/>
          </a:ln>
        </p:spPr>
      </p:pic>
      <p:grpSp>
        <p:nvGrpSpPr>
          <p:cNvPr id="78" name="Google Shape;89;p13"/>
          <p:cNvGrpSpPr/>
          <p:nvPr/>
        </p:nvGrpSpPr>
        <p:grpSpPr>
          <a:xfrm>
            <a:off x="1074600" y="690480"/>
            <a:ext cx="2233440" cy="1023480"/>
            <a:chOff x="1074600" y="690480"/>
            <a:chExt cx="2233440" cy="1023480"/>
          </a:xfrm>
        </p:grpSpPr>
        <p:sp>
          <p:nvSpPr>
            <p:cNvPr id="79" name="Google Shape;90;p13"/>
            <p:cNvSpPr/>
            <p:nvPr/>
          </p:nvSpPr>
          <p:spPr>
            <a:xfrm>
              <a:off x="1074600" y="690480"/>
              <a:ext cx="2233440" cy="1023480"/>
            </a:xfrm>
            <a:prstGeom prst="roundRect">
              <a:avLst>
                <a:gd name="adj" fmla="val 16667"/>
              </a:avLst>
            </a:prstGeom>
            <a:solidFill>
              <a:schemeClr val="lt1"/>
            </a:solidFill>
            <a:ln w="9525">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pic>
          <p:nvPicPr>
            <p:cNvPr id="80" name="Google Shape;91;p13"/>
            <p:cNvPicPr/>
            <p:nvPr/>
          </p:nvPicPr>
          <p:blipFill>
            <a:blip r:embed="rId2"/>
            <a:stretch>
              <a:fillRect/>
            </a:stretch>
          </p:blipFill>
          <p:spPr>
            <a:xfrm>
              <a:off x="1300680" y="949680"/>
              <a:ext cx="1788120" cy="540720"/>
            </a:xfrm>
            <a:prstGeom prst="rect">
              <a:avLst/>
            </a:prstGeom>
            <a:ln w="0">
              <a:noFill/>
            </a:ln>
          </p:spPr>
        </p:pic>
      </p:grpSp>
      <p:sp>
        <p:nvSpPr>
          <p:cNvPr id="81" name="Google Shape;87;p13"/>
          <p:cNvSpPr/>
          <p:nvPr/>
        </p:nvSpPr>
        <p:spPr>
          <a:xfrm>
            <a:off x="914400" y="6054840"/>
            <a:ext cx="9066240" cy="1919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4000" b="0" strike="noStrike" spc="-1">
                <a:solidFill>
                  <a:srgbClr val="143642"/>
                </a:solidFill>
                <a:latin typeface="Open Sans ExtraBold"/>
                <a:ea typeface="Open Sans ExtraBold"/>
              </a:rPr>
              <a:t>Name: Chalwe Silas</a:t>
            </a:r>
            <a:endParaRPr lang="en-US" sz="4000" b="0" strike="noStrike" spc="-1">
              <a:solidFill>
                <a:srgbClr val="000000"/>
              </a:solidFill>
              <a:latin typeface="Arial"/>
            </a:endParaRPr>
          </a:p>
          <a:p>
            <a:pPr>
              <a:lnSpc>
                <a:spcPct val="105000"/>
              </a:lnSpc>
              <a:tabLst>
                <a:tab pos="0" algn="l"/>
              </a:tabLst>
            </a:pPr>
            <a:r>
              <a:rPr lang="en-US" sz="4000" b="0" strike="noStrike" spc="-1">
                <a:solidFill>
                  <a:srgbClr val="143642"/>
                </a:solidFill>
                <a:latin typeface="Open Sans ExtraBold"/>
                <a:ea typeface="Open Sans ExtraBold"/>
              </a:rPr>
              <a:t>Project Name: AgroSpeak Connect</a:t>
            </a:r>
            <a:endParaRPr lang="en-US" sz="4000" b="0" strike="noStrike" spc="-1">
              <a:solidFill>
                <a:srgbClr val="000000"/>
              </a:solidFill>
              <a:latin typeface="Arial"/>
            </a:endParaRPr>
          </a:p>
          <a:p>
            <a:pPr>
              <a:lnSpc>
                <a:spcPct val="105000"/>
              </a:lnSpc>
              <a:tabLst>
                <a:tab pos="0" algn="l"/>
              </a:tabLst>
            </a:pPr>
            <a:r>
              <a:rPr lang="en-US" sz="4000" b="0" strike="noStrike" spc="-1">
                <a:solidFill>
                  <a:srgbClr val="143642"/>
                </a:solidFill>
                <a:latin typeface="Open Sans ExtraBold"/>
                <a:ea typeface="Open Sans ExtraBold"/>
              </a:rPr>
              <a:t>Stage:  </a:t>
            </a:r>
            <a:endParaRPr lang="en-US" sz="4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Google Shape;105;p15"/>
          <p:cNvSpPr/>
          <p:nvPr/>
        </p:nvSpPr>
        <p:spPr>
          <a:xfrm>
            <a:off x="1376640" y="5961960"/>
            <a:ext cx="636120" cy="56304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ctr">
            <a:noAutofit/>
          </a:bodyPr>
          <a:p>
            <a:pPr algn="ctr">
              <a:lnSpc>
                <a:spcPct val="140000"/>
              </a:lnSpc>
              <a:tabLst>
                <a:tab pos="0" algn="l"/>
              </a:tabLst>
            </a:pPr>
            <a:r>
              <a:rPr lang="en-US" sz="2270" b="0" strike="noStrike" spc="-1">
                <a:solidFill>
                  <a:srgbClr val="FFFFFF"/>
                </a:solidFill>
                <a:latin typeface="Montserrat"/>
                <a:ea typeface="Montserrat"/>
              </a:rPr>
              <a:t>0</a:t>
            </a:r>
            <a:endParaRPr lang="en-US" sz="2270" b="0" strike="noStrike" spc="-1">
              <a:solidFill>
                <a:srgbClr val="000000"/>
              </a:solidFill>
              <a:latin typeface="Arial"/>
            </a:endParaRPr>
          </a:p>
        </p:txBody>
      </p:sp>
      <p:sp>
        <p:nvSpPr>
          <p:cNvPr id="83" name="Google Shape;106;p15"/>
          <p:cNvSpPr/>
          <p:nvPr/>
        </p:nvSpPr>
        <p:spPr>
          <a:xfrm>
            <a:off x="1074600" y="690480"/>
            <a:ext cx="5099400" cy="11944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40000"/>
              </a:lnSpc>
              <a:tabLst>
                <a:tab pos="0" algn="l"/>
              </a:tabLst>
            </a:pPr>
            <a:r>
              <a:rPr lang="en-US" sz="5600" b="0" strike="noStrike" spc="-1">
                <a:solidFill>
                  <a:srgbClr val="2598D3"/>
                </a:solidFill>
                <a:latin typeface="Plus Jakarta Sans ExtraBold"/>
                <a:ea typeface="Plus Jakarta Sans ExtraBold"/>
              </a:rPr>
              <a:t>Background</a:t>
            </a:r>
            <a:endParaRPr lang="en-US" sz="5600" b="0" strike="noStrike" spc="-1">
              <a:solidFill>
                <a:srgbClr val="000000"/>
              </a:solidFill>
              <a:latin typeface="Arial"/>
            </a:endParaRPr>
          </a:p>
        </p:txBody>
      </p:sp>
      <p:sp>
        <p:nvSpPr>
          <p:cNvPr id="84" name="Google Shape;107;p15"/>
          <p:cNvSpPr/>
          <p:nvPr/>
        </p:nvSpPr>
        <p:spPr>
          <a:xfrm>
            <a:off x="1131840" y="4663080"/>
            <a:ext cx="5099400" cy="767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40000"/>
              </a:lnSpc>
              <a:tabLst>
                <a:tab pos="0" algn="l"/>
              </a:tabLst>
            </a:pPr>
            <a:r>
              <a:rPr lang="en-US" sz="3600" b="1" strike="noStrike" spc="-1">
                <a:solidFill>
                  <a:srgbClr val="2598D3"/>
                </a:solidFill>
                <a:latin typeface="Plus Jakarta Sans"/>
                <a:ea typeface="Plus Jakarta Sans"/>
              </a:rPr>
              <a:t>The Problem</a:t>
            </a:r>
            <a:endParaRPr lang="en-US" sz="3600" b="0" strike="noStrike" spc="-1">
              <a:solidFill>
                <a:srgbClr val="000000"/>
              </a:solidFill>
              <a:latin typeface="Arial"/>
            </a:endParaRPr>
          </a:p>
        </p:txBody>
      </p:sp>
      <p:grpSp>
        <p:nvGrpSpPr>
          <p:cNvPr id="85" name="Google Shape;108;p15"/>
          <p:cNvGrpSpPr/>
          <p:nvPr/>
        </p:nvGrpSpPr>
        <p:grpSpPr>
          <a:xfrm>
            <a:off x="757555" y="5471795"/>
            <a:ext cx="862330" cy="528955"/>
            <a:chOff x="1089720" y="5471640"/>
            <a:chExt cx="530280" cy="528840"/>
          </a:xfrm>
        </p:grpSpPr>
        <p:sp>
          <p:nvSpPr>
            <p:cNvPr id="86" name="Google Shape;109;p15"/>
            <p:cNvSpPr/>
            <p:nvPr/>
          </p:nvSpPr>
          <p:spPr>
            <a:xfrm>
              <a:off x="1089720" y="547164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87" name="Google Shape;110;p15"/>
            <p:cNvSpPr/>
            <p:nvPr/>
          </p:nvSpPr>
          <p:spPr>
            <a:xfrm>
              <a:off x="1158840" y="556740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ctr">
              <a:noAutofit/>
            </a:bodyPr>
            <a:p>
              <a:pPr algn="ctr">
                <a:lnSpc>
                  <a:spcPct val="140000"/>
                </a:lnSpc>
                <a:tabLst>
                  <a:tab pos="0" algn="l"/>
                </a:tabLst>
              </a:pPr>
              <a:r>
                <a:rPr lang="en-US" sz="2270" b="1" strike="noStrike" spc="-1">
                  <a:solidFill>
                    <a:srgbClr val="2598D3"/>
                  </a:solidFill>
                  <a:latin typeface="Montserrat"/>
                  <a:ea typeface="Montserrat"/>
                </a:rPr>
                <a:t>01</a:t>
              </a:r>
              <a:endParaRPr lang="en-US" sz="2270" b="0" strike="noStrike" spc="-1">
                <a:solidFill>
                  <a:srgbClr val="000000"/>
                </a:solidFill>
                <a:latin typeface="Arial"/>
              </a:endParaRPr>
            </a:p>
          </p:txBody>
        </p:sp>
      </p:grpSp>
      <p:grpSp>
        <p:nvGrpSpPr>
          <p:cNvPr id="88" name="Google Shape;111;p15"/>
          <p:cNvGrpSpPr/>
          <p:nvPr/>
        </p:nvGrpSpPr>
        <p:grpSpPr>
          <a:xfrm>
            <a:off x="8818245" y="5483225"/>
            <a:ext cx="627380" cy="528955"/>
            <a:chOff x="8915400" y="5483520"/>
            <a:chExt cx="530280" cy="528840"/>
          </a:xfrm>
        </p:grpSpPr>
        <p:sp>
          <p:nvSpPr>
            <p:cNvPr id="89" name="Google Shape;112;p15"/>
            <p:cNvSpPr/>
            <p:nvPr/>
          </p:nvSpPr>
          <p:spPr>
            <a:xfrm>
              <a:off x="8915400" y="548352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90" name="Google Shape;113;p15"/>
            <p:cNvSpPr/>
            <p:nvPr/>
          </p:nvSpPr>
          <p:spPr>
            <a:xfrm>
              <a:off x="8974800" y="5579280"/>
              <a:ext cx="42444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ctr">
              <a:noAutofit/>
            </a:bodyPr>
            <a:p>
              <a:pPr algn="ctr">
                <a:lnSpc>
                  <a:spcPct val="140000"/>
                </a:lnSpc>
                <a:tabLst>
                  <a:tab pos="0" algn="l"/>
                </a:tabLst>
              </a:pPr>
              <a:r>
                <a:rPr lang="en-US" sz="2270" b="1" strike="noStrike" spc="-1">
                  <a:solidFill>
                    <a:srgbClr val="2598D3"/>
                  </a:solidFill>
                  <a:latin typeface="Montserrat"/>
                  <a:ea typeface="Montserrat"/>
                </a:rPr>
                <a:t>02</a:t>
              </a:r>
              <a:endParaRPr lang="en-US" sz="2270" b="0" strike="noStrike" spc="-1">
                <a:solidFill>
                  <a:srgbClr val="000000"/>
                </a:solidFill>
                <a:latin typeface="Arial"/>
              </a:endParaRPr>
            </a:p>
          </p:txBody>
        </p:sp>
      </p:grpSp>
      <p:grpSp>
        <p:nvGrpSpPr>
          <p:cNvPr id="91" name="Google Shape;114;p15"/>
          <p:cNvGrpSpPr/>
          <p:nvPr/>
        </p:nvGrpSpPr>
        <p:grpSpPr>
          <a:xfrm>
            <a:off x="870585" y="7270115"/>
            <a:ext cx="713105" cy="528955"/>
            <a:chOff x="1053720" y="7269840"/>
            <a:chExt cx="530280" cy="528840"/>
          </a:xfrm>
        </p:grpSpPr>
        <p:sp>
          <p:nvSpPr>
            <p:cNvPr id="92" name="Google Shape;115;p15"/>
            <p:cNvSpPr/>
            <p:nvPr/>
          </p:nvSpPr>
          <p:spPr>
            <a:xfrm>
              <a:off x="1053720" y="726984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93" name="Google Shape;116;p15"/>
            <p:cNvSpPr/>
            <p:nvPr/>
          </p:nvSpPr>
          <p:spPr>
            <a:xfrm>
              <a:off x="1113120" y="7365600"/>
              <a:ext cx="42444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ctr">
              <a:noAutofit/>
            </a:bodyPr>
            <a:p>
              <a:pPr algn="ctr">
                <a:lnSpc>
                  <a:spcPct val="140000"/>
                </a:lnSpc>
                <a:tabLst>
                  <a:tab pos="0" algn="l"/>
                </a:tabLst>
              </a:pPr>
              <a:r>
                <a:rPr lang="en-US" sz="2270" b="1" strike="noStrike" spc="-1">
                  <a:solidFill>
                    <a:srgbClr val="2598D3"/>
                  </a:solidFill>
                  <a:latin typeface="Montserrat"/>
                  <a:ea typeface="Montserrat"/>
                </a:rPr>
                <a:t>03</a:t>
              </a:r>
              <a:endParaRPr lang="en-US" sz="2270" b="0" strike="noStrike" spc="-1">
                <a:solidFill>
                  <a:srgbClr val="000000"/>
                </a:solidFill>
                <a:latin typeface="Arial"/>
              </a:endParaRPr>
            </a:p>
          </p:txBody>
        </p:sp>
      </p:grpSp>
      <p:grpSp>
        <p:nvGrpSpPr>
          <p:cNvPr id="94" name="Google Shape;117;p15"/>
          <p:cNvGrpSpPr/>
          <p:nvPr/>
        </p:nvGrpSpPr>
        <p:grpSpPr>
          <a:xfrm>
            <a:off x="8818245" y="7270115"/>
            <a:ext cx="627380" cy="528955"/>
            <a:chOff x="8915400" y="7269840"/>
            <a:chExt cx="530280" cy="528840"/>
          </a:xfrm>
        </p:grpSpPr>
        <p:sp>
          <p:nvSpPr>
            <p:cNvPr id="95" name="Google Shape;118;p15"/>
            <p:cNvSpPr/>
            <p:nvPr/>
          </p:nvSpPr>
          <p:spPr>
            <a:xfrm>
              <a:off x="8915400" y="726984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96" name="Google Shape;119;p15"/>
            <p:cNvSpPr/>
            <p:nvPr/>
          </p:nvSpPr>
          <p:spPr>
            <a:xfrm>
              <a:off x="8958960" y="7365600"/>
              <a:ext cx="464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ctr">
              <a:noAutofit/>
            </a:bodyPr>
            <a:p>
              <a:pPr algn="ctr">
                <a:lnSpc>
                  <a:spcPct val="140000"/>
                </a:lnSpc>
                <a:tabLst>
                  <a:tab pos="0" algn="l"/>
                </a:tabLst>
              </a:pPr>
              <a:r>
                <a:rPr lang="en-US" sz="2270" b="1" strike="noStrike" spc="-1">
                  <a:solidFill>
                    <a:srgbClr val="2598D3"/>
                  </a:solidFill>
                  <a:latin typeface="Montserrat"/>
                  <a:ea typeface="Montserrat"/>
                </a:rPr>
                <a:t>04</a:t>
              </a:r>
              <a:endParaRPr lang="en-US" sz="2270" b="0" strike="noStrike" spc="-1">
                <a:solidFill>
                  <a:srgbClr val="000000"/>
                </a:solidFill>
                <a:latin typeface="Arial"/>
              </a:endParaRPr>
            </a:p>
          </p:txBody>
        </p:sp>
      </p:grpSp>
      <p:sp>
        <p:nvSpPr>
          <p:cNvPr id="97" name="Text Box 1"/>
          <p:cNvSpPr/>
          <p:nvPr/>
        </p:nvSpPr>
        <p:spPr>
          <a:xfrm>
            <a:off x="1115060" y="1744980"/>
            <a:ext cx="16274415" cy="2830195"/>
          </a:xfrm>
          <a:prstGeom prst="rect">
            <a:avLst/>
          </a:prstGeom>
          <a:solidFill>
            <a:srgbClr val="EEEEEE"/>
          </a:solidFill>
          <a:ln w="0">
            <a:solidFill>
              <a:srgbClr val="CCCCCC"/>
            </a:solidFill>
          </a:ln>
        </p:spPr>
        <p:style>
          <a:lnRef idx="0">
            <a:srgbClr val="FFFFFF"/>
          </a:lnRef>
          <a:fillRef idx="0">
            <a:srgbClr val="FFFFFF"/>
          </a:fillRef>
          <a:effectRef idx="0">
            <a:srgbClr val="FFFFFF"/>
          </a:effectRef>
          <a:fontRef idx="minor"/>
        </p:style>
        <p:txBody>
          <a:bodyPr wrap="square" lIns="90000" tIns="45000" rIns="90000" bIns="45000" anchor="t">
            <a:spAutoFit/>
          </a:bodyPr>
          <a:p>
            <a:pPr>
              <a:lnSpc>
                <a:spcPct val="100000"/>
              </a:lnSpc>
              <a:spcBef>
                <a:spcPts val="1190"/>
              </a:spcBef>
              <a:spcAft>
                <a:spcPts val="990"/>
              </a:spcAft>
            </a:pPr>
            <a:endParaRPr lang="en-US" sz="2000" b="0" strike="noStrike" spc="-1">
              <a:solidFill>
                <a:srgbClr val="000000"/>
              </a:solidFill>
              <a:latin typeface="Noto Sans" panose="020B0502040504020204"/>
            </a:endParaRPr>
          </a:p>
          <a:p>
            <a:pPr>
              <a:lnSpc>
                <a:spcPct val="100000"/>
              </a:lnSpc>
              <a:spcBef>
                <a:spcPts val="1190"/>
              </a:spcBef>
              <a:spcAft>
                <a:spcPts val="990"/>
              </a:spcAft>
            </a:pPr>
            <a:r>
              <a:rPr lang="en-US" sz="2000" b="0" strike="noStrike" spc="-1">
                <a:solidFill>
                  <a:srgbClr val="000000"/>
                </a:solidFill>
                <a:latin typeface="Noto Sans" panose="020B0502040504020204"/>
                <a:ea typeface="Arial"/>
              </a:rPr>
              <a:t>In Zambia, where 85% of farmers are smallholders and only 14% of the population has access to the Internet, limited literacy and reliance on basic mobile phones make it difficult for farmers to access vital agricultural information, financial services, and insurance.  Although agriculture employs around 59% of the workforce, it contributes only 3.4% of GDP, reflecting low productivity. Limited literacy, poor internet access (only 14.3% of Zambians are online), and reliance on basic phones further restrict farmers’ access to digital services.AgroSpeak Connect bridges this gap through a voice-first digital platform that delivers localized agricultural advice, financial tools, and insurance services in native languages, empowering farmers to enhance productivity, financial inclusion, and climate resilience.</a:t>
            </a:r>
            <a:endParaRPr lang="en-US" sz="2000" b="0" strike="noStrike" spc="-1">
              <a:solidFill>
                <a:srgbClr val="000000"/>
              </a:solidFill>
              <a:latin typeface="Noto Sans" panose="020B0502040504020204"/>
            </a:endParaRPr>
          </a:p>
        </p:txBody>
      </p:sp>
      <p:sp>
        <p:nvSpPr>
          <p:cNvPr id="98" name="Text Box 2"/>
          <p:cNvSpPr/>
          <p:nvPr/>
        </p:nvSpPr>
        <p:spPr>
          <a:xfrm>
            <a:off x="1621080" y="5578560"/>
            <a:ext cx="7196760" cy="421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r>
              <a:rPr lang="en-US" sz="2000" b="0" strike="noStrike" spc="-1">
                <a:solidFill>
                  <a:srgbClr val="000000"/>
                </a:solidFill>
                <a:latin typeface="Arial Narrow"/>
                <a:ea typeface="Arial"/>
              </a:rPr>
              <a:t>Limited access to timely agricultural information on weather, pests, and markets</a:t>
            </a:r>
            <a:endParaRPr lang="en-US" sz="2000" b="0" strike="noStrike" spc="-1">
              <a:solidFill>
                <a:srgbClr val="000000"/>
              </a:solidFill>
              <a:latin typeface="Arial"/>
            </a:endParaRPr>
          </a:p>
        </p:txBody>
      </p:sp>
      <p:sp>
        <p:nvSpPr>
          <p:cNvPr id="99" name="Text Box 3"/>
          <p:cNvSpPr/>
          <p:nvPr/>
        </p:nvSpPr>
        <p:spPr>
          <a:xfrm>
            <a:off x="9441360" y="5604480"/>
            <a:ext cx="851832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Difficulty accessing financial and insurance services for smallholder farmers.</a:t>
            </a:r>
            <a:endParaRPr lang="en-US" sz="2000" b="0" strike="noStrike" spc="-1">
              <a:solidFill>
                <a:srgbClr val="000000"/>
              </a:solidFill>
              <a:latin typeface="Arial"/>
            </a:endParaRPr>
          </a:p>
        </p:txBody>
      </p:sp>
      <p:sp>
        <p:nvSpPr>
          <p:cNvPr id="100" name="Text Box 4"/>
          <p:cNvSpPr/>
          <p:nvPr/>
        </p:nvSpPr>
        <p:spPr>
          <a:xfrm>
            <a:off x="1593360" y="7436520"/>
            <a:ext cx="690984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Low literacy and digital skills, making text-based or online systems hard to use.</a:t>
            </a:r>
            <a:endParaRPr lang="en-US" sz="2000" b="0" strike="noStrike" spc="-1">
              <a:solidFill>
                <a:srgbClr val="000000"/>
              </a:solidFill>
              <a:latin typeface="Arial"/>
            </a:endParaRPr>
          </a:p>
        </p:txBody>
      </p:sp>
      <p:sp>
        <p:nvSpPr>
          <p:cNvPr id="101" name="Text Box 5"/>
          <p:cNvSpPr/>
          <p:nvPr/>
        </p:nvSpPr>
        <p:spPr>
          <a:xfrm>
            <a:off x="9426600" y="7450920"/>
            <a:ext cx="763920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Dependence on basic phones with no internet, limiting access to digital solutions.</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Google Shape;124;p16"/>
          <p:cNvSpPr/>
          <p:nvPr/>
        </p:nvSpPr>
        <p:spPr>
          <a:xfrm>
            <a:off x="3226680" y="0"/>
            <a:ext cx="15060960" cy="10344960"/>
          </a:xfrm>
          <a:prstGeom prst="rect">
            <a:avLst/>
          </a:prstGeom>
          <a:gradFill rotWithShape="0">
            <a:gsLst>
              <a:gs pos="0">
                <a:srgbClr val="CEE8F5"/>
              </a:gs>
              <a:gs pos="100000">
                <a:srgbClr val="FFFFFF"/>
              </a:gs>
            </a:gsLst>
            <a:lin ang="5400000"/>
          </a:gradFill>
          <a:ln w="9525">
            <a:solidFill>
              <a:srgbClr val="1F497D"/>
            </a:solidFill>
            <a:round/>
          </a:ln>
          <a:effectLst>
            <a:outerShdw blurRad="57240" dist="19080" dir="5400000" algn="bl" rotWithShape="0">
              <a:srgbClr val="000000">
                <a:alpha val="50000"/>
              </a:srgbClr>
            </a:outerShdw>
            <a:reflection endPos="30000" dist="38100" dir="5400000" fadeDir="5400012" sy="-100000" algn="bl" rotWithShape="0"/>
          </a:effectLst>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grpSp>
        <p:nvGrpSpPr>
          <p:cNvPr id="103" name="Google Shape;125;p16"/>
          <p:cNvGrpSpPr/>
          <p:nvPr/>
        </p:nvGrpSpPr>
        <p:grpSpPr>
          <a:xfrm>
            <a:off x="0" y="0"/>
            <a:ext cx="3259800" cy="10344960"/>
            <a:chOff x="0" y="0"/>
            <a:chExt cx="3259800" cy="10344960"/>
          </a:xfrm>
        </p:grpSpPr>
        <p:sp>
          <p:nvSpPr>
            <p:cNvPr id="104" name="Google Shape;126;p16"/>
            <p:cNvSpPr/>
            <p:nvPr/>
          </p:nvSpPr>
          <p:spPr>
            <a:xfrm>
              <a:off x="0" y="213840"/>
              <a:ext cx="3259800" cy="10131120"/>
            </a:xfrm>
            <a:custGeom>
              <a:avLst/>
              <a:gdLst>
                <a:gd name="textAreaLeft" fmla="*/ 0 w 3259800"/>
                <a:gd name="textAreaRight" fmla="*/ 3260160 w 3259800"/>
                <a:gd name="textAreaTop" fmla="*/ 0 h 10131120"/>
                <a:gd name="textAreaBottom" fmla="*/ 10131480 h 10131120"/>
              </a:gdLst>
              <a:ahLst/>
              <a:cxnLst/>
              <a:rect l="textAreaLeft" t="textAreaTop" r="textAreaRight" b="textAreaBottom"/>
              <a:pathLst>
                <a:path w="1661494" h="2709333">
                  <a:moveTo>
                    <a:pt x="0" y="0"/>
                  </a:moveTo>
                  <a:lnTo>
                    <a:pt x="1661494" y="0"/>
                  </a:lnTo>
                  <a:lnTo>
                    <a:pt x="1661494" y="2709333"/>
                  </a:lnTo>
                  <a:lnTo>
                    <a:pt x="0" y="2709333"/>
                  </a:lnTo>
                  <a:close/>
                </a:path>
              </a:pathLst>
            </a:custGeom>
            <a:solidFill>
              <a:srgbClr val="25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05" name="Google Shape;127;p16"/>
            <p:cNvSpPr/>
            <p:nvPr/>
          </p:nvSpPr>
          <p:spPr>
            <a:xfrm>
              <a:off x="0" y="0"/>
              <a:ext cx="3259800" cy="1034496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06" name="Google Shape;128;p16"/>
          <p:cNvSpPr/>
          <p:nvPr/>
        </p:nvSpPr>
        <p:spPr>
          <a:xfrm>
            <a:off x="3657600" y="1424160"/>
            <a:ext cx="440676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2598D3"/>
                </a:solidFill>
                <a:latin typeface="Plus Jakarta Sans ExtraBold"/>
                <a:ea typeface="Plus Jakarta Sans ExtraBold"/>
              </a:rPr>
              <a:t>The Solution</a:t>
            </a:r>
            <a:endParaRPr lang="en-US" sz="5600" b="0" strike="noStrike" spc="-1">
              <a:solidFill>
                <a:srgbClr val="000000"/>
              </a:solidFill>
              <a:latin typeface="Arial"/>
            </a:endParaRPr>
          </a:p>
        </p:txBody>
      </p:sp>
      <p:grpSp>
        <p:nvGrpSpPr>
          <p:cNvPr id="107" name="Google Shape;132;p16"/>
          <p:cNvGrpSpPr/>
          <p:nvPr/>
        </p:nvGrpSpPr>
        <p:grpSpPr>
          <a:xfrm>
            <a:off x="562680" y="8783640"/>
            <a:ext cx="2233440" cy="1023480"/>
            <a:chOff x="562680" y="8783640"/>
            <a:chExt cx="2233440" cy="1023480"/>
          </a:xfrm>
        </p:grpSpPr>
        <p:sp>
          <p:nvSpPr>
            <p:cNvPr id="108" name="Google Shape;133;p16"/>
            <p:cNvSpPr/>
            <p:nvPr/>
          </p:nvSpPr>
          <p:spPr>
            <a:xfrm>
              <a:off x="562680" y="8783640"/>
              <a:ext cx="2233440" cy="1023480"/>
            </a:xfrm>
            <a:prstGeom prst="roundRect">
              <a:avLst>
                <a:gd name="adj" fmla="val 16667"/>
              </a:avLst>
            </a:prstGeom>
            <a:solidFill>
              <a:schemeClr val="lt1"/>
            </a:solidFill>
            <a:ln w="9525">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pic>
          <p:nvPicPr>
            <p:cNvPr id="109" name="Google Shape;134;p16"/>
            <p:cNvPicPr/>
            <p:nvPr/>
          </p:nvPicPr>
          <p:blipFill>
            <a:blip r:embed="rId1"/>
            <a:stretch>
              <a:fillRect/>
            </a:stretch>
          </p:blipFill>
          <p:spPr>
            <a:xfrm>
              <a:off x="788760" y="9042480"/>
              <a:ext cx="1788120" cy="540720"/>
            </a:xfrm>
            <a:prstGeom prst="rect">
              <a:avLst/>
            </a:prstGeom>
            <a:ln w="0">
              <a:noFill/>
            </a:ln>
          </p:spPr>
        </p:pic>
      </p:grpSp>
      <p:grpSp>
        <p:nvGrpSpPr>
          <p:cNvPr id="110" name="Google Shape;129;p16"/>
          <p:cNvGrpSpPr/>
          <p:nvPr/>
        </p:nvGrpSpPr>
        <p:grpSpPr>
          <a:xfrm>
            <a:off x="4641215" y="3296920"/>
            <a:ext cx="847090" cy="528955"/>
            <a:chOff x="4957920" y="3296880"/>
            <a:chExt cx="530280" cy="528840"/>
          </a:xfrm>
        </p:grpSpPr>
        <p:sp>
          <p:nvSpPr>
            <p:cNvPr id="111" name="Google Shape;130;p16"/>
            <p:cNvSpPr/>
            <p:nvPr/>
          </p:nvSpPr>
          <p:spPr>
            <a:xfrm>
              <a:off x="4957920" y="329688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12" name="Google Shape;131;p16"/>
            <p:cNvSpPr/>
            <p:nvPr/>
          </p:nvSpPr>
          <p:spPr>
            <a:xfrm>
              <a:off x="5026680" y="339264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rgbClr val="2598D3"/>
                  </a:solidFill>
                  <a:latin typeface="Montserrat"/>
                  <a:ea typeface="Montserrat"/>
                </a:rPr>
                <a:t>01</a:t>
              </a:r>
              <a:endParaRPr lang="en-US" sz="2270" b="0" strike="noStrike" spc="-1">
                <a:solidFill>
                  <a:srgbClr val="000000"/>
                </a:solidFill>
                <a:latin typeface="Arial"/>
              </a:endParaRPr>
            </a:p>
          </p:txBody>
        </p:sp>
      </p:grpSp>
      <p:grpSp>
        <p:nvGrpSpPr>
          <p:cNvPr id="113" name="Google Shape;129;p16"/>
          <p:cNvGrpSpPr/>
          <p:nvPr/>
        </p:nvGrpSpPr>
        <p:grpSpPr>
          <a:xfrm>
            <a:off x="4750435" y="4333240"/>
            <a:ext cx="741045" cy="528955"/>
            <a:chOff x="4961520" y="4333320"/>
            <a:chExt cx="530280" cy="528840"/>
          </a:xfrm>
        </p:grpSpPr>
        <p:sp>
          <p:nvSpPr>
            <p:cNvPr id="114" name="Google Shape;130;p16"/>
            <p:cNvSpPr/>
            <p:nvPr/>
          </p:nvSpPr>
          <p:spPr>
            <a:xfrm>
              <a:off x="4961520" y="433332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15" name="Google Shape;131;p16"/>
            <p:cNvSpPr/>
            <p:nvPr/>
          </p:nvSpPr>
          <p:spPr>
            <a:xfrm>
              <a:off x="5030280" y="442908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000" b="1" strike="noStrike" spc="-1">
                  <a:solidFill>
                    <a:srgbClr val="2598D3"/>
                  </a:solidFill>
                  <a:latin typeface="Arial"/>
                  <a:ea typeface="Arial"/>
                </a:rPr>
                <a:t>02</a:t>
              </a:r>
              <a:endParaRPr lang="en-US" sz="2000" b="0" strike="noStrike" spc="-1">
                <a:solidFill>
                  <a:srgbClr val="000000"/>
                </a:solidFill>
                <a:latin typeface="Arial"/>
              </a:endParaRPr>
            </a:p>
          </p:txBody>
        </p:sp>
      </p:grpSp>
      <p:grpSp>
        <p:nvGrpSpPr>
          <p:cNvPr id="116" name="Google Shape;129;p16"/>
          <p:cNvGrpSpPr/>
          <p:nvPr/>
        </p:nvGrpSpPr>
        <p:grpSpPr>
          <a:xfrm>
            <a:off x="4750435" y="5151120"/>
            <a:ext cx="805815" cy="528955"/>
            <a:chOff x="5026320" y="5151240"/>
            <a:chExt cx="530280" cy="528840"/>
          </a:xfrm>
        </p:grpSpPr>
        <p:sp>
          <p:nvSpPr>
            <p:cNvPr id="117" name="Google Shape;130;p16"/>
            <p:cNvSpPr/>
            <p:nvPr/>
          </p:nvSpPr>
          <p:spPr>
            <a:xfrm>
              <a:off x="5026320" y="515124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18" name="Google Shape;131;p16"/>
            <p:cNvSpPr/>
            <p:nvPr/>
          </p:nvSpPr>
          <p:spPr>
            <a:xfrm>
              <a:off x="5095080" y="524664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000" b="1" strike="noStrike" spc="-1">
                  <a:solidFill>
                    <a:srgbClr val="2598D3"/>
                  </a:solidFill>
                  <a:latin typeface="Arial"/>
                  <a:ea typeface="Arial"/>
                </a:rPr>
                <a:t>03</a:t>
              </a:r>
              <a:endParaRPr lang="en-US" sz="2000" b="0" strike="noStrike" spc="-1">
                <a:solidFill>
                  <a:srgbClr val="000000"/>
                </a:solidFill>
                <a:latin typeface="Arial"/>
              </a:endParaRPr>
            </a:p>
          </p:txBody>
        </p:sp>
      </p:grpSp>
      <p:sp>
        <p:nvSpPr>
          <p:cNvPr id="119" name="Text Box 10"/>
          <p:cNvSpPr/>
          <p:nvPr/>
        </p:nvSpPr>
        <p:spPr>
          <a:xfrm>
            <a:off x="5562000" y="3465360"/>
            <a:ext cx="1121364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Voice-first system that allows farmers to access services through phone calls in local languages no reading or internet required.</a:t>
            </a:r>
            <a:endParaRPr lang="en-US" sz="2000" b="0" strike="noStrike" spc="-1">
              <a:solidFill>
                <a:srgbClr val="000000"/>
              </a:solidFill>
              <a:latin typeface="Arial"/>
            </a:endParaRPr>
          </a:p>
        </p:txBody>
      </p:sp>
      <p:sp>
        <p:nvSpPr>
          <p:cNvPr id="120" name="Text Box 11"/>
          <p:cNvSpPr/>
          <p:nvPr/>
        </p:nvSpPr>
        <p:spPr>
          <a:xfrm>
            <a:off x="5658480" y="4251240"/>
            <a:ext cx="1130256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Mobile app version for smartphone users, providing the same agricultural, financial, and insurance services with an easy-to-use interface.</a:t>
            </a:r>
            <a:endParaRPr lang="en-US" sz="2000" b="0" strike="noStrike" spc="-1">
              <a:solidFill>
                <a:srgbClr val="000000"/>
              </a:solidFill>
              <a:latin typeface="Arial"/>
            </a:endParaRPr>
          </a:p>
        </p:txBody>
      </p:sp>
      <p:sp>
        <p:nvSpPr>
          <p:cNvPr id="121" name="Text Box 13"/>
          <p:cNvSpPr/>
          <p:nvPr/>
        </p:nvSpPr>
        <p:spPr>
          <a:xfrm>
            <a:off x="5658480" y="5151240"/>
            <a:ext cx="1040904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Real-time agricultural information such as weather forecasts, market prices, and farming tips to support better decision-making.</a:t>
            </a:r>
            <a:endParaRPr lang="en-US" sz="2000" b="0" strike="noStrike" spc="-1">
              <a:solidFill>
                <a:srgbClr val="000000"/>
              </a:solidFill>
              <a:latin typeface="Arial"/>
            </a:endParaRPr>
          </a:p>
        </p:txBody>
      </p:sp>
      <p:grpSp>
        <p:nvGrpSpPr>
          <p:cNvPr id="122" name="Google Shape;129;p16"/>
          <p:cNvGrpSpPr/>
          <p:nvPr/>
        </p:nvGrpSpPr>
        <p:grpSpPr>
          <a:xfrm>
            <a:off x="4641215" y="6064885"/>
            <a:ext cx="919480" cy="528955"/>
            <a:chOff x="5030640" y="6064920"/>
            <a:chExt cx="530280" cy="528840"/>
          </a:xfrm>
        </p:grpSpPr>
        <p:sp>
          <p:nvSpPr>
            <p:cNvPr id="123" name="Google Shape;130;p16"/>
            <p:cNvSpPr/>
            <p:nvPr/>
          </p:nvSpPr>
          <p:spPr>
            <a:xfrm>
              <a:off x="5030640" y="606492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24" name="Google Shape;131;p16"/>
            <p:cNvSpPr/>
            <p:nvPr/>
          </p:nvSpPr>
          <p:spPr>
            <a:xfrm>
              <a:off x="5099760" y="616068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000" b="1" strike="noStrike" spc="-1">
                  <a:solidFill>
                    <a:srgbClr val="2598D3"/>
                  </a:solidFill>
                  <a:latin typeface="Arial"/>
                  <a:ea typeface="Arial"/>
                </a:rPr>
                <a:t>04</a:t>
              </a:r>
              <a:endParaRPr lang="en-US" sz="2000" b="0" strike="noStrike" spc="-1">
                <a:solidFill>
                  <a:srgbClr val="000000"/>
                </a:solidFill>
                <a:latin typeface="Arial"/>
              </a:endParaRPr>
            </a:p>
          </p:txBody>
        </p:sp>
      </p:grpSp>
      <p:sp>
        <p:nvSpPr>
          <p:cNvPr id="125" name="Text Box 18"/>
          <p:cNvSpPr/>
          <p:nvPr/>
        </p:nvSpPr>
        <p:spPr>
          <a:xfrm>
            <a:off x="5673240" y="6050880"/>
            <a:ext cx="1039464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Integration with financial and insurance partners to give farmers access to digital payments, loans, and crop/livestock insurance</a:t>
            </a:r>
            <a:endParaRPr lang="en-US" sz="2000" b="0" strike="noStrike" spc="-1">
              <a:solidFill>
                <a:srgbClr val="000000"/>
              </a:solidFill>
              <a:latin typeface="Arial"/>
            </a:endParaRPr>
          </a:p>
        </p:txBody>
      </p:sp>
      <p:grpSp>
        <p:nvGrpSpPr>
          <p:cNvPr id="126" name="Google Shape;129;p16"/>
          <p:cNvGrpSpPr/>
          <p:nvPr/>
        </p:nvGrpSpPr>
        <p:grpSpPr>
          <a:xfrm>
            <a:off x="4760595" y="7060565"/>
            <a:ext cx="864870" cy="528955"/>
            <a:chOff x="5095080" y="7060680"/>
            <a:chExt cx="530280" cy="528840"/>
          </a:xfrm>
        </p:grpSpPr>
        <p:sp>
          <p:nvSpPr>
            <p:cNvPr id="127" name="Google Shape;130;p16"/>
            <p:cNvSpPr/>
            <p:nvPr/>
          </p:nvSpPr>
          <p:spPr>
            <a:xfrm>
              <a:off x="5095080" y="706068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28" name="Google Shape;131;p16"/>
            <p:cNvSpPr/>
            <p:nvPr/>
          </p:nvSpPr>
          <p:spPr>
            <a:xfrm>
              <a:off x="5163840" y="715608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000" b="1" strike="noStrike" spc="-1">
                  <a:solidFill>
                    <a:srgbClr val="2598D3"/>
                  </a:solidFill>
                  <a:latin typeface="Arial"/>
                  <a:ea typeface="Arial"/>
                </a:rPr>
                <a:t>05</a:t>
              </a:r>
              <a:endParaRPr lang="en-US" sz="2000" b="0" strike="noStrike" spc="-1">
                <a:solidFill>
                  <a:srgbClr val="000000"/>
                </a:solidFill>
                <a:latin typeface="Arial"/>
              </a:endParaRPr>
            </a:p>
          </p:txBody>
        </p:sp>
      </p:grpSp>
      <p:sp>
        <p:nvSpPr>
          <p:cNvPr id="129" name="Text Box 26"/>
          <p:cNvSpPr/>
          <p:nvPr/>
        </p:nvSpPr>
        <p:spPr>
          <a:xfrm>
            <a:off x="5793120" y="7093440"/>
            <a:ext cx="944136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Inclusive digital platform designed to reach both literate and non-literate farmers across Zambia.</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 name="Google Shape;139;p17"/>
          <p:cNvGrpSpPr/>
          <p:nvPr/>
        </p:nvGrpSpPr>
        <p:grpSpPr>
          <a:xfrm>
            <a:off x="14893200" y="-217080"/>
            <a:ext cx="3394440" cy="10503720"/>
            <a:chOff x="14893200" y="-217080"/>
            <a:chExt cx="3394440" cy="10503720"/>
          </a:xfrm>
        </p:grpSpPr>
        <p:sp>
          <p:nvSpPr>
            <p:cNvPr id="131" name="Google Shape;140;p17"/>
            <p:cNvSpPr/>
            <p:nvPr/>
          </p:nvSpPr>
          <p:spPr>
            <a:xfrm>
              <a:off x="14893200" y="0"/>
              <a:ext cx="3394440" cy="10286640"/>
            </a:xfrm>
            <a:custGeom>
              <a:avLst/>
              <a:gdLst>
                <a:gd name="textAreaLeft" fmla="*/ 0 w 3394440"/>
                <a:gd name="textAreaRight" fmla="*/ 3394800 w 3394440"/>
                <a:gd name="textAreaTop" fmla="*/ 0 h 10286640"/>
                <a:gd name="textAreaBottom" fmla="*/ 10287000 h 10286640"/>
              </a:gdLst>
              <a:ahLst/>
              <a:cxnLst/>
              <a:rect l="textAreaLeft" t="textAreaTop" r="textAreaRight" b="textAreaBottom"/>
              <a:pathLst>
                <a:path w="1321562" h="2709333">
                  <a:moveTo>
                    <a:pt x="0" y="0"/>
                  </a:moveTo>
                  <a:lnTo>
                    <a:pt x="1321562" y="0"/>
                  </a:lnTo>
                  <a:lnTo>
                    <a:pt x="1321562" y="2709333"/>
                  </a:lnTo>
                  <a:lnTo>
                    <a:pt x="0" y="2709333"/>
                  </a:lnTo>
                  <a:close/>
                </a:path>
              </a:pathLst>
            </a:custGeom>
            <a:solidFill>
              <a:srgbClr val="24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32" name="Google Shape;141;p17"/>
            <p:cNvSpPr/>
            <p:nvPr/>
          </p:nvSpPr>
          <p:spPr>
            <a:xfrm>
              <a:off x="14893200" y="-217080"/>
              <a:ext cx="3394440" cy="10503720"/>
            </a:xfrm>
            <a:prstGeom prst="rect">
              <a:avLst/>
            </a:prstGeom>
            <a:solidFill>
              <a:srgbClr val="24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33" name="Google Shape;142;p17"/>
          <p:cNvSpPr/>
          <p:nvPr/>
        </p:nvSpPr>
        <p:spPr>
          <a:xfrm>
            <a:off x="1028520" y="690480"/>
            <a:ext cx="791604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2598D3"/>
                </a:solidFill>
                <a:latin typeface="Plus Jakarta Sans ExtraBold"/>
                <a:ea typeface="Plus Jakarta Sans ExtraBold"/>
              </a:rPr>
              <a:t>How it Works</a:t>
            </a:r>
            <a:endParaRPr lang="en-US" sz="5600" b="0" strike="noStrike" spc="-1">
              <a:solidFill>
                <a:srgbClr val="000000"/>
              </a:solidFill>
              <a:latin typeface="Arial"/>
            </a:endParaRPr>
          </a:p>
        </p:txBody>
      </p:sp>
      <p:grpSp>
        <p:nvGrpSpPr>
          <p:cNvPr id="134" name="Google Shape;143;p17"/>
          <p:cNvGrpSpPr/>
          <p:nvPr/>
        </p:nvGrpSpPr>
        <p:grpSpPr>
          <a:xfrm>
            <a:off x="15505920" y="8572680"/>
            <a:ext cx="2233440" cy="1023480"/>
            <a:chOff x="15505920" y="8572680"/>
            <a:chExt cx="2233440" cy="1023480"/>
          </a:xfrm>
        </p:grpSpPr>
        <p:sp>
          <p:nvSpPr>
            <p:cNvPr id="135" name="Google Shape;144;p17"/>
            <p:cNvSpPr/>
            <p:nvPr/>
          </p:nvSpPr>
          <p:spPr>
            <a:xfrm>
              <a:off x="15505920" y="8572680"/>
              <a:ext cx="2233440" cy="1023480"/>
            </a:xfrm>
            <a:prstGeom prst="roundRect">
              <a:avLst>
                <a:gd name="adj" fmla="val 16667"/>
              </a:avLst>
            </a:prstGeom>
            <a:solidFill>
              <a:schemeClr val="lt1"/>
            </a:solidFill>
            <a:ln w="9525">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pic>
          <p:nvPicPr>
            <p:cNvPr id="136" name="Google Shape;145;p17"/>
            <p:cNvPicPr/>
            <p:nvPr/>
          </p:nvPicPr>
          <p:blipFill>
            <a:blip r:embed="rId1"/>
            <a:stretch>
              <a:fillRect/>
            </a:stretch>
          </p:blipFill>
          <p:spPr>
            <a:xfrm>
              <a:off x="15731640" y="8831520"/>
              <a:ext cx="1788120" cy="540720"/>
            </a:xfrm>
            <a:prstGeom prst="rect">
              <a:avLst/>
            </a:prstGeom>
            <a:ln w="0">
              <a:noFill/>
            </a:ln>
          </p:spPr>
        </p:pic>
      </p:grpSp>
      <p:sp>
        <p:nvSpPr>
          <p:cNvPr id="137" name="Google Shape;146;p17"/>
          <p:cNvSpPr/>
          <p:nvPr/>
        </p:nvSpPr>
        <p:spPr>
          <a:xfrm>
            <a:off x="1074600" y="1670400"/>
            <a:ext cx="7916040" cy="479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3000" b="0" strike="noStrike" spc="-1">
                <a:solidFill>
                  <a:srgbClr val="143642"/>
                </a:solidFill>
                <a:latin typeface="Plus Jakarta Sans Medium"/>
                <a:ea typeface="Plus Jakarta Sans Medium"/>
              </a:rPr>
              <a:t>(Germination and Sprout Stage)</a:t>
            </a:r>
            <a:endParaRPr lang="en-US" sz="3000" b="0" strike="noStrike" spc="-1">
              <a:solidFill>
                <a:srgbClr val="000000"/>
              </a:solidFill>
              <a:latin typeface="Arial"/>
            </a:endParaRPr>
          </a:p>
        </p:txBody>
      </p:sp>
      <p:sp>
        <p:nvSpPr>
          <p:cNvPr id="138" name="Text Box 1"/>
          <p:cNvSpPr/>
          <p:nvPr/>
        </p:nvSpPr>
        <p:spPr>
          <a:xfrm>
            <a:off x="833760" y="2442960"/>
            <a:ext cx="13626000" cy="7167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1" strike="noStrike" spc="-1">
                <a:solidFill>
                  <a:srgbClr val="000000"/>
                </a:solidFill>
                <a:latin typeface="Arial Narrow"/>
                <a:ea typeface="Arial"/>
              </a:rPr>
              <a:t> Voice Access:</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Farmers dial a toll-free number or receive automated voice messages in their preferred local language (e.g., Bemba, Nyanja, Tonga).</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 Voice Interaction:</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The system uses a voice menu (IVR or speech recognition) where farmers can speak or choose options to get information for example:</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“Press 1 for weather updates”</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“Press 2 for market prices”</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“Press 3 for financial or insurance services.”</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Financial &amp; Insurance Services:</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Through partnerships with banks and insurance providers, farmers can access digital loans, savings, or insurance via voice prompts or through the mobile app.</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Mobile App Option:</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Farmers with smartphones can download the AgroSpeake Connect app to access the same services  with visuals, chat support, and digital records of transactions or advice received.</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Data &amp; Feedback:</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The system collects anonymous user data and feedback to personalize services and improve recommendations for farmers over time.</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Google Shape;151;p18"/>
          <p:cNvSpPr/>
          <p:nvPr/>
        </p:nvSpPr>
        <p:spPr>
          <a:xfrm>
            <a:off x="1074600" y="690480"/>
            <a:ext cx="863460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2598D3"/>
                </a:solidFill>
                <a:latin typeface="Plus Jakarta Sans ExtraBold"/>
                <a:ea typeface="Plus Jakarta Sans ExtraBold"/>
              </a:rPr>
              <a:t>UPLOAD A VIDEO </a:t>
            </a:r>
            <a:endParaRPr lang="en-US" sz="5600" b="0" strike="noStrike" spc="-1">
              <a:solidFill>
                <a:srgbClr val="000000"/>
              </a:solidFill>
              <a:latin typeface="Arial"/>
            </a:endParaRPr>
          </a:p>
        </p:txBody>
      </p:sp>
      <p:sp>
        <p:nvSpPr>
          <p:cNvPr id="140" name="Google Shape;152;p18"/>
          <p:cNvSpPr/>
          <p:nvPr/>
        </p:nvSpPr>
        <p:spPr>
          <a:xfrm>
            <a:off x="1074600" y="1731960"/>
            <a:ext cx="6334200" cy="570960"/>
          </a:xfrm>
          <a:prstGeom prst="rect">
            <a:avLst/>
          </a:prstGeom>
          <a:noFill/>
          <a:ln w="0">
            <a:noFill/>
          </a:ln>
        </p:spPr>
        <p:style>
          <a:lnRef idx="0">
            <a:srgbClr val="FFFFFF"/>
          </a:lnRef>
          <a:fillRef idx="0">
            <a:srgbClr val="FFFFFF"/>
          </a:fillRef>
          <a:effectRef idx="0">
            <a:srgbClr val="FFFFFF"/>
          </a:effectRef>
          <a:fontRef idx="minor"/>
        </p:style>
        <p:txBody>
          <a:bodyPr anchor="t">
            <a:spAutoFit/>
          </a:bodyPr>
          <a:p>
            <a:pPr>
              <a:lnSpc>
                <a:spcPct val="105000"/>
              </a:lnSpc>
              <a:tabLst>
                <a:tab pos="0" algn="l"/>
              </a:tabLst>
            </a:pPr>
            <a:r>
              <a:rPr lang="en-US" sz="3000" b="0" strike="noStrike" spc="-1">
                <a:solidFill>
                  <a:srgbClr val="143642"/>
                </a:solidFill>
                <a:latin typeface="Plus Jakarta Sans Medium"/>
                <a:ea typeface="Plus Jakarta Sans Medium"/>
              </a:rPr>
              <a:t>(Germination and Sprout Stage)</a:t>
            </a:r>
            <a:endParaRPr lang="en-US" sz="3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598D3"/>
        </a:solidFill>
        <a:effectLst/>
      </p:bgPr>
    </p:bg>
    <p:spTree>
      <p:nvGrpSpPr>
        <p:cNvPr id="1" name=""/>
        <p:cNvGrpSpPr/>
        <p:nvPr/>
      </p:nvGrpSpPr>
      <p:grpSpPr>
        <a:xfrm>
          <a:off x="0" y="0"/>
          <a:ext cx="0" cy="0"/>
          <a:chOff x="0" y="0"/>
          <a:chExt cx="0" cy="0"/>
        </a:xfrm>
      </p:grpSpPr>
      <p:sp>
        <p:nvSpPr>
          <p:cNvPr id="141" name="Google Shape;157;p19"/>
          <p:cNvSpPr/>
          <p:nvPr/>
        </p:nvSpPr>
        <p:spPr>
          <a:xfrm>
            <a:off x="1028880" y="690480"/>
            <a:ext cx="955224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F0F6FC"/>
                </a:solidFill>
                <a:latin typeface="Plus Jakarta Sans ExtraBold"/>
                <a:ea typeface="Plus Jakarta Sans ExtraBold"/>
              </a:rPr>
              <a:t>Traction</a:t>
            </a:r>
            <a:endParaRPr lang="en-US" sz="5600" b="0" strike="noStrike" spc="-1">
              <a:solidFill>
                <a:srgbClr val="FFFFFF"/>
              </a:solidFill>
              <a:latin typeface="Arial"/>
            </a:endParaRPr>
          </a:p>
        </p:txBody>
      </p:sp>
      <p:sp>
        <p:nvSpPr>
          <p:cNvPr id="142" name="Google Shape;158;p19"/>
          <p:cNvSpPr/>
          <p:nvPr/>
        </p:nvSpPr>
        <p:spPr>
          <a:xfrm>
            <a:off x="9420840" y="4514400"/>
            <a:ext cx="7952400" cy="553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marL="914400" algn="just">
              <a:lnSpc>
                <a:spcPct val="150000"/>
              </a:lnSpc>
              <a:tabLst>
                <a:tab pos="0" algn="l"/>
              </a:tabLst>
            </a:pPr>
            <a:endParaRPr lang="en-US" sz="1200" b="0" strike="noStrike" spc="-1">
              <a:solidFill>
                <a:srgbClr val="FFFFFF"/>
              </a:solidFill>
              <a:latin typeface="Arial"/>
            </a:endParaRPr>
          </a:p>
          <a:p>
            <a:pPr algn="just">
              <a:lnSpc>
                <a:spcPct val="150000"/>
              </a:lnSpc>
              <a:tabLst>
                <a:tab pos="0" algn="l"/>
              </a:tabLst>
            </a:pPr>
            <a:endParaRPr lang="en-US" sz="1800" b="0" strike="noStrike" spc="-1">
              <a:solidFill>
                <a:srgbClr val="FFFFFF"/>
              </a:solidFill>
              <a:latin typeface="Arial"/>
            </a:endParaRPr>
          </a:p>
        </p:txBody>
      </p:sp>
      <p:sp>
        <p:nvSpPr>
          <p:cNvPr id="143" name="Google Shape;146;p17"/>
          <p:cNvSpPr/>
          <p:nvPr/>
        </p:nvSpPr>
        <p:spPr>
          <a:xfrm>
            <a:off x="1074600" y="1670400"/>
            <a:ext cx="7916040" cy="480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3000" b="0" strike="noStrike" spc="-1">
                <a:solidFill>
                  <a:schemeClr val="lt1"/>
                </a:solidFill>
                <a:latin typeface="Plus Jakarta Sans Medium"/>
                <a:ea typeface="Plus Jakarta Sans Medium"/>
              </a:rPr>
              <a:t>(Germination and Sprout Stage)</a:t>
            </a:r>
            <a:endParaRPr lang="en-US" sz="3000" b="0" strike="noStrike" spc="-1">
              <a:solidFill>
                <a:srgbClr val="FFFFFF"/>
              </a:solidFill>
              <a:latin typeface="Arial"/>
            </a:endParaRPr>
          </a:p>
        </p:txBody>
      </p:sp>
      <p:sp>
        <p:nvSpPr>
          <p:cNvPr id="144" name="Text Box 1"/>
          <p:cNvSpPr/>
          <p:nvPr/>
        </p:nvSpPr>
        <p:spPr>
          <a:xfrm>
            <a:off x="1028880" y="2804760"/>
            <a:ext cx="16128000" cy="40536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1" strike="noStrike" spc="-1">
                <a:solidFill>
                  <a:srgbClr val="000000"/>
                </a:solidFill>
                <a:latin typeface="Arial Narrow"/>
                <a:ea typeface="Arial"/>
              </a:rPr>
              <a:t>Custom AI Models</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marL="342900" indent="-342900">
              <a:lnSpc>
                <a:spcPct val="100000"/>
              </a:lnSpc>
              <a:buClr>
                <a:srgbClr val="000000"/>
              </a:buClr>
              <a:buFont typeface="Arial"/>
              <a:buChar char="•"/>
            </a:pPr>
            <a:r>
              <a:rPr lang="en-US" sz="2000" b="0" strike="noStrike" spc="-1">
                <a:solidFill>
                  <a:srgbClr val="000000"/>
                </a:solidFill>
                <a:latin typeface="Arial Narrow"/>
                <a:ea typeface="Arial"/>
              </a:rPr>
              <a:t>Developed custom TTS (Text-to-Speech) and STT (Speech-to-Text) models to support local languages and voice-first interactions.</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a:lnSpc>
                <a:spcPct val="100000"/>
              </a:lnSpc>
            </a:pPr>
            <a:r>
              <a:rPr lang="en-US" sz="2000" b="1" strike="noStrike" spc="-1">
                <a:solidFill>
                  <a:srgbClr val="000000"/>
                </a:solidFill>
                <a:latin typeface="Arial Narrow"/>
                <a:ea typeface="Arial"/>
              </a:rPr>
              <a:t>Pilot Testing / Feedback</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marL="342900" indent="-342900">
              <a:lnSpc>
                <a:spcPct val="100000"/>
              </a:lnSpc>
              <a:buClr>
                <a:srgbClr val="000000"/>
              </a:buClr>
              <a:buFont typeface="Arial"/>
              <a:buChar char="•"/>
            </a:pPr>
            <a:r>
              <a:rPr lang="en-US" sz="2000" b="0" strike="noStrike" spc="-1">
                <a:solidFill>
                  <a:srgbClr val="000000"/>
                </a:solidFill>
                <a:latin typeface="Arial Narrow"/>
                <a:ea typeface="Arial"/>
              </a:rPr>
              <a:t>Conducted a pilot with 15 farmers using the mobile app.</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marL="342900" indent="-342900">
              <a:lnSpc>
                <a:spcPct val="100000"/>
              </a:lnSpc>
              <a:buClr>
                <a:srgbClr val="000000"/>
              </a:buClr>
              <a:buFont typeface="Arial"/>
              <a:buChar char="•"/>
            </a:pPr>
            <a:r>
              <a:rPr lang="en-US" sz="2000" b="0" strike="noStrike" spc="-1">
                <a:solidFill>
                  <a:srgbClr val="000000"/>
                </a:solidFill>
                <a:latin typeface="Arial Narrow"/>
                <a:ea typeface="Arial"/>
              </a:rPr>
              <a:t>Feedback highlighted the need to integrate financial services and insurance into the platform.</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a:lnSpc>
                <a:spcPct val="100000"/>
              </a:lnSpc>
            </a:pPr>
            <a:r>
              <a:rPr lang="en-US" sz="2000" b="1" strike="noStrike" spc="-1">
                <a:solidFill>
                  <a:srgbClr val="000000"/>
                </a:solidFill>
                <a:latin typeface="Arial Narrow"/>
                <a:ea typeface="Arial"/>
              </a:rPr>
              <a:t>Partnerships / Stakeholder Engagement</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marL="342900" indent="-342900">
              <a:lnSpc>
                <a:spcPct val="100000"/>
              </a:lnSpc>
              <a:buClr>
                <a:srgbClr val="000000"/>
              </a:buClr>
              <a:buFont typeface="Arial"/>
              <a:buChar char="•"/>
            </a:pPr>
            <a:r>
              <a:rPr lang="en-US" sz="2000" b="0" strike="noStrike" spc="-1">
                <a:solidFill>
                  <a:srgbClr val="000000"/>
                </a:solidFill>
                <a:latin typeface="Arial Narrow"/>
                <a:ea typeface="Arial"/>
              </a:rPr>
              <a:t>Collaborating with UNIPOB, ZICTA Innovation  2025, and the Youth Team Up program to support development, testing, and scaling.</a:t>
            </a:r>
            <a:endParaRPr lang="en-US" sz="2000" b="0" strike="noStrike" spc="-1">
              <a:solidFill>
                <a:srgbClr val="FFFFFF"/>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5" name="Google Shape;163;p20"/>
          <p:cNvGrpSpPr/>
          <p:nvPr/>
        </p:nvGrpSpPr>
        <p:grpSpPr>
          <a:xfrm>
            <a:off x="133920" y="0"/>
            <a:ext cx="18630360" cy="10286640"/>
            <a:chOff x="133920" y="0"/>
            <a:chExt cx="18630360" cy="10286640"/>
          </a:xfrm>
        </p:grpSpPr>
        <p:sp>
          <p:nvSpPr>
            <p:cNvPr id="146" name="Google Shape;164;p20"/>
            <p:cNvSpPr/>
            <p:nvPr/>
          </p:nvSpPr>
          <p:spPr>
            <a:xfrm>
              <a:off x="133920" y="5453640"/>
              <a:ext cx="16265160" cy="4833000"/>
            </a:xfrm>
            <a:custGeom>
              <a:avLst/>
              <a:gdLst>
                <a:gd name="textAreaLeft" fmla="*/ 0 w 16265160"/>
                <a:gd name="textAreaRight" fmla="*/ 16265520 w 16265160"/>
                <a:gd name="textAreaTop" fmla="*/ 0 h 4833000"/>
                <a:gd name="textAreaBottom" fmla="*/ 4833360 h 4833000"/>
              </a:gdLst>
              <a:ahLst/>
              <a:cxnLst/>
              <a:rect l="textAreaLeft" t="textAreaTop" r="textAreaRight" b="textAreaBottom"/>
              <a:pathLst>
                <a:path w="4810343" h="50648">
                  <a:moveTo>
                    <a:pt x="0" y="0"/>
                  </a:moveTo>
                  <a:lnTo>
                    <a:pt x="4810343" y="0"/>
                  </a:lnTo>
                  <a:lnTo>
                    <a:pt x="4810343" y="50648"/>
                  </a:lnTo>
                  <a:lnTo>
                    <a:pt x="0" y="50648"/>
                  </a:lnTo>
                  <a:close/>
                </a:path>
              </a:pathLst>
            </a:custGeom>
            <a:solidFill>
              <a:srgbClr val="143642"/>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47" name="Google Shape;165;p20"/>
            <p:cNvSpPr/>
            <p:nvPr/>
          </p:nvSpPr>
          <p:spPr>
            <a:xfrm>
              <a:off x="133920" y="0"/>
              <a:ext cx="18630360" cy="1027728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48" name="Google Shape;166;p20"/>
          <p:cNvSpPr/>
          <p:nvPr/>
        </p:nvSpPr>
        <p:spPr>
          <a:xfrm>
            <a:off x="1077480" y="690480"/>
            <a:ext cx="806904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chemeClr val="lt1"/>
                </a:solidFill>
                <a:latin typeface="Plus Jakarta Sans ExtraBold"/>
                <a:ea typeface="Plus Jakarta Sans ExtraBold"/>
              </a:rPr>
              <a:t>Value Proposition</a:t>
            </a:r>
            <a:endParaRPr lang="en-US" sz="5600" b="0" strike="noStrike" spc="-1">
              <a:solidFill>
                <a:srgbClr val="000000"/>
              </a:solidFill>
              <a:latin typeface="Arial"/>
            </a:endParaRPr>
          </a:p>
        </p:txBody>
      </p:sp>
      <p:grpSp>
        <p:nvGrpSpPr>
          <p:cNvPr id="149" name="Google Shape;167;p20"/>
          <p:cNvGrpSpPr/>
          <p:nvPr/>
        </p:nvGrpSpPr>
        <p:grpSpPr>
          <a:xfrm>
            <a:off x="626110" y="2484120"/>
            <a:ext cx="932815" cy="580390"/>
            <a:chOff x="1028880" y="2484360"/>
            <a:chExt cx="530280" cy="559800"/>
          </a:xfrm>
        </p:grpSpPr>
        <p:sp>
          <p:nvSpPr>
            <p:cNvPr id="150" name="Google Shape;168;p20"/>
            <p:cNvSpPr/>
            <p:nvPr/>
          </p:nvSpPr>
          <p:spPr>
            <a:xfrm>
              <a:off x="1028880" y="2484360"/>
              <a:ext cx="530280" cy="55980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chemeClr val="lt1"/>
                </a:solidFill>
                <a:latin typeface="Calibri"/>
                <a:ea typeface="Calibri"/>
              </a:endParaRPr>
            </a:p>
          </p:txBody>
        </p:sp>
        <p:sp>
          <p:nvSpPr>
            <p:cNvPr id="151" name="Google Shape;169;p20"/>
            <p:cNvSpPr/>
            <p:nvPr/>
          </p:nvSpPr>
          <p:spPr>
            <a:xfrm>
              <a:off x="1097640" y="2570040"/>
              <a:ext cx="392760" cy="38844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chemeClr val="lt1"/>
                  </a:solidFill>
                  <a:latin typeface="Montserrat"/>
                  <a:ea typeface="Montserrat"/>
                </a:rPr>
                <a:t>01</a:t>
              </a:r>
              <a:endParaRPr lang="en-US" sz="2270" b="0" strike="noStrike" spc="-1">
                <a:solidFill>
                  <a:srgbClr val="000000"/>
                </a:solidFill>
                <a:latin typeface="Arial"/>
              </a:endParaRPr>
            </a:p>
          </p:txBody>
        </p:sp>
      </p:grpSp>
      <p:grpSp>
        <p:nvGrpSpPr>
          <p:cNvPr id="152" name="Google Shape;170;p20"/>
          <p:cNvGrpSpPr/>
          <p:nvPr/>
        </p:nvGrpSpPr>
        <p:grpSpPr>
          <a:xfrm>
            <a:off x="1028520" y="4430880"/>
            <a:ext cx="530280" cy="528840"/>
            <a:chOff x="1028520" y="4430880"/>
            <a:chExt cx="530280" cy="528840"/>
          </a:xfrm>
        </p:grpSpPr>
        <p:sp>
          <p:nvSpPr>
            <p:cNvPr id="153" name="Google Shape;171;p20"/>
            <p:cNvSpPr/>
            <p:nvPr/>
          </p:nvSpPr>
          <p:spPr>
            <a:xfrm>
              <a:off x="1028520" y="443088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chemeClr val="lt1"/>
                </a:solidFill>
                <a:latin typeface="Calibri"/>
                <a:ea typeface="Calibri"/>
              </a:endParaRPr>
            </a:p>
          </p:txBody>
        </p:sp>
        <p:sp>
          <p:nvSpPr>
            <p:cNvPr id="154" name="Google Shape;172;p20"/>
            <p:cNvSpPr/>
            <p:nvPr/>
          </p:nvSpPr>
          <p:spPr>
            <a:xfrm>
              <a:off x="1064880" y="4526640"/>
              <a:ext cx="45072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chemeClr val="lt1"/>
                  </a:solidFill>
                  <a:latin typeface="Montserrat"/>
                  <a:ea typeface="Montserrat"/>
                </a:rPr>
                <a:t>02</a:t>
              </a:r>
              <a:endParaRPr lang="en-US" sz="2270" b="0" strike="noStrike" spc="-1">
                <a:solidFill>
                  <a:srgbClr val="000000"/>
                </a:solidFill>
                <a:latin typeface="Arial"/>
              </a:endParaRPr>
            </a:p>
            <a:p>
              <a:pPr algn="ctr">
                <a:lnSpc>
                  <a:spcPct val="140000"/>
                </a:lnSpc>
                <a:tabLst>
                  <a:tab pos="0" algn="l"/>
                </a:tabLst>
              </a:pPr>
              <a:endParaRPr lang="en-US" sz="2270" b="0" strike="noStrike" spc="-1">
                <a:solidFill>
                  <a:srgbClr val="000000"/>
                </a:solidFill>
                <a:latin typeface="Arial"/>
              </a:endParaRPr>
            </a:p>
          </p:txBody>
        </p:sp>
      </p:grpSp>
      <p:sp>
        <p:nvSpPr>
          <p:cNvPr id="155" name="Text Box 1"/>
          <p:cNvSpPr/>
          <p:nvPr/>
        </p:nvSpPr>
        <p:spPr>
          <a:xfrm>
            <a:off x="1637640" y="2670120"/>
            <a:ext cx="1472832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1" strike="noStrike" spc="-1">
                <a:solidFill>
                  <a:srgbClr val="000000"/>
                </a:solidFill>
                <a:latin typeface="Arial Narrow"/>
                <a:ea typeface="Arial"/>
              </a:rPr>
              <a:t>Inclusive Access:</a:t>
            </a:r>
            <a:r>
              <a:rPr lang="en-US" sz="2000" b="0" strike="noStrike" spc="-1">
                <a:solidFill>
                  <a:srgbClr val="000000"/>
                </a:solidFill>
                <a:latin typeface="Arial Narrow"/>
                <a:ea typeface="Arial"/>
              </a:rPr>
              <a:t> Enables all farmers, including non-literate users, to access agricultural, financial, and insurance services via voice or app.</a:t>
            </a:r>
            <a:endParaRPr lang="en-US" sz="2000" b="0" strike="noStrike" spc="-1">
              <a:solidFill>
                <a:srgbClr val="000000"/>
              </a:solidFill>
              <a:latin typeface="Arial"/>
            </a:endParaRPr>
          </a:p>
        </p:txBody>
      </p:sp>
      <p:sp>
        <p:nvSpPr>
          <p:cNvPr id="156" name="Text Box 2"/>
          <p:cNvSpPr/>
          <p:nvPr/>
        </p:nvSpPr>
        <p:spPr>
          <a:xfrm>
            <a:off x="1652760" y="4576320"/>
            <a:ext cx="1511532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Timely Agricultural Information: Provides real-time weather updates, market prices, and farming advice in local languages.</a:t>
            </a:r>
            <a:endParaRPr lang="en-US" sz="2000" b="0" strike="noStrike" spc="-1">
              <a:solidFill>
                <a:srgbClr val="000000"/>
              </a:solidFill>
              <a:latin typeface="Arial"/>
            </a:endParaRPr>
          </a:p>
        </p:txBody>
      </p:sp>
      <p:sp>
        <p:nvSpPr>
          <p:cNvPr id="157" name="Text Box 3"/>
          <p:cNvSpPr/>
          <p:nvPr/>
        </p:nvSpPr>
        <p:spPr>
          <a:xfrm>
            <a:off x="7572240" y="3340800"/>
            <a:ext cx="6095520" cy="3063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endParaRPr lang="en-US" sz="1400" b="0" strike="noStrike" spc="-1">
              <a:solidFill>
                <a:srgbClr val="000000"/>
              </a:solidFill>
              <a:latin typeface="Arial"/>
              <a:ea typeface="Arial"/>
            </a:endParaRPr>
          </a:p>
        </p:txBody>
      </p:sp>
      <p:grpSp>
        <p:nvGrpSpPr>
          <p:cNvPr id="158" name="Google Shape;170;p20"/>
          <p:cNvGrpSpPr/>
          <p:nvPr/>
        </p:nvGrpSpPr>
        <p:grpSpPr>
          <a:xfrm>
            <a:off x="1165320" y="5661000"/>
            <a:ext cx="530280" cy="528840"/>
            <a:chOff x="1165320" y="5661000"/>
            <a:chExt cx="530280" cy="528840"/>
          </a:xfrm>
        </p:grpSpPr>
        <p:sp>
          <p:nvSpPr>
            <p:cNvPr id="159" name="Google Shape;171;p20"/>
            <p:cNvSpPr/>
            <p:nvPr/>
          </p:nvSpPr>
          <p:spPr>
            <a:xfrm>
              <a:off x="1165320" y="566100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chemeClr val="lt1"/>
                </a:solidFill>
                <a:latin typeface="Calibri"/>
                <a:ea typeface="Calibri"/>
              </a:endParaRPr>
            </a:p>
          </p:txBody>
        </p:sp>
        <p:sp>
          <p:nvSpPr>
            <p:cNvPr id="160" name="Google Shape;172;p20"/>
            <p:cNvSpPr/>
            <p:nvPr/>
          </p:nvSpPr>
          <p:spPr>
            <a:xfrm>
              <a:off x="1201680" y="5756760"/>
              <a:ext cx="45072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chemeClr val="lt1"/>
                  </a:solidFill>
                  <a:latin typeface="Montserrat"/>
                  <a:ea typeface="Montserrat"/>
                </a:rPr>
                <a:t>03</a:t>
              </a:r>
              <a:endParaRPr lang="en-US" sz="2270" b="0" strike="noStrike" spc="-1">
                <a:solidFill>
                  <a:srgbClr val="000000"/>
                </a:solidFill>
                <a:latin typeface="Arial"/>
              </a:endParaRPr>
            </a:p>
            <a:p>
              <a:pPr algn="ctr">
                <a:lnSpc>
                  <a:spcPct val="140000"/>
                </a:lnSpc>
                <a:tabLst>
                  <a:tab pos="0" algn="l"/>
                </a:tabLst>
              </a:pPr>
              <a:endParaRPr lang="en-US" sz="2270" b="0" strike="noStrike" spc="-1">
                <a:solidFill>
                  <a:srgbClr val="000000"/>
                </a:solidFill>
                <a:latin typeface="Arial"/>
              </a:endParaRPr>
            </a:p>
          </p:txBody>
        </p:sp>
      </p:grpSp>
      <p:sp>
        <p:nvSpPr>
          <p:cNvPr id="164" name="Text Box 10"/>
          <p:cNvSpPr/>
          <p:nvPr/>
        </p:nvSpPr>
        <p:spPr>
          <a:xfrm>
            <a:off x="1875960" y="5756760"/>
            <a:ext cx="1246464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Financial &amp; Insurance Integration: Connects farmers with loans, savings, and crop/livestock insurance directly through the platform.</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 name="Google Shape;177;p21"/>
          <p:cNvGrpSpPr/>
          <p:nvPr/>
        </p:nvGrpSpPr>
        <p:grpSpPr>
          <a:xfrm>
            <a:off x="10638560" y="3624335"/>
            <a:ext cx="6683040" cy="689760"/>
            <a:chOff x="9012960" y="3859920"/>
            <a:chExt cx="6683040" cy="689760"/>
          </a:xfrm>
        </p:grpSpPr>
        <p:sp>
          <p:nvSpPr>
            <p:cNvPr id="166" name="Google Shape;178;p21"/>
            <p:cNvSpPr/>
            <p:nvPr/>
          </p:nvSpPr>
          <p:spPr>
            <a:xfrm>
              <a:off x="9012960" y="3931920"/>
              <a:ext cx="6683040" cy="545400"/>
            </a:xfrm>
            <a:custGeom>
              <a:avLst/>
              <a:gdLst>
                <a:gd name="textAreaLeft" fmla="*/ 0 w 6683040"/>
                <a:gd name="textAreaRight" fmla="*/ 6683400 w 6683040"/>
                <a:gd name="textAreaTop" fmla="*/ 0 h 545400"/>
                <a:gd name="textAreaBottom" fmla="*/ 545760 h 545400"/>
              </a:gdLst>
              <a:ahLst/>
              <a:cxnLst/>
              <a:rect l="textAreaLeft" t="textAreaTop" r="textAreaRight" b="textAreaBottom"/>
              <a:pathLst>
                <a:path w="1760253" h="143750">
                  <a:moveTo>
                    <a:pt x="59077" y="0"/>
                  </a:moveTo>
                  <a:lnTo>
                    <a:pt x="1701177" y="0"/>
                  </a:lnTo>
                  <a:cubicBezTo>
                    <a:pt x="1716845" y="0"/>
                    <a:pt x="1731871" y="6224"/>
                    <a:pt x="1742950" y="17303"/>
                  </a:cubicBezTo>
                  <a:cubicBezTo>
                    <a:pt x="1754029" y="28382"/>
                    <a:pt x="1760253" y="43409"/>
                    <a:pt x="1760253" y="59077"/>
                  </a:cubicBezTo>
                  <a:lnTo>
                    <a:pt x="1760253" y="84673"/>
                  </a:lnTo>
                  <a:cubicBezTo>
                    <a:pt x="1760253" y="117301"/>
                    <a:pt x="1733804" y="143750"/>
                    <a:pt x="1701177" y="143750"/>
                  </a:cubicBezTo>
                  <a:lnTo>
                    <a:pt x="59077" y="143750"/>
                  </a:lnTo>
                  <a:cubicBezTo>
                    <a:pt x="43409" y="143750"/>
                    <a:pt x="28382" y="137526"/>
                    <a:pt x="17303" y="126447"/>
                  </a:cubicBezTo>
                  <a:cubicBezTo>
                    <a:pt x="6224" y="115368"/>
                    <a:pt x="0" y="100342"/>
                    <a:pt x="0" y="84673"/>
                  </a:cubicBezTo>
                  <a:lnTo>
                    <a:pt x="0" y="59077"/>
                  </a:lnTo>
                  <a:cubicBezTo>
                    <a:pt x="0" y="26450"/>
                    <a:pt x="26450" y="0"/>
                    <a:pt x="59077" y="0"/>
                  </a:cubicBezTo>
                  <a:close/>
                </a:path>
              </a:pathLst>
            </a:custGeom>
            <a:solidFill>
              <a:srgbClr val="EECC1D"/>
            </a:solidFill>
            <a:ln w="0">
              <a:noFill/>
            </a:ln>
          </p:spPr>
          <p:style>
            <a:lnRef idx="0">
              <a:srgbClr val="FFFFFF"/>
            </a:lnRef>
            <a:fillRef idx="0">
              <a:srgbClr val="FFFFFF"/>
            </a:fillRef>
            <a:effectRef idx="0">
              <a:srgbClr val="FFFFFF"/>
            </a:effectRef>
            <a:fontRef idx="minor"/>
          </p:style>
          <p:txBody>
            <a:bodyPr tIns="91440" bIns="91440" anchor="ctr">
              <a:noAutofit/>
            </a:bodyPr>
            <a:p>
              <a:pPr>
                <a:lnSpc>
                  <a:spcPct val="100000"/>
                </a:lnSpc>
                <a:tabLst>
                  <a:tab pos="0" algn="l"/>
                </a:tabLst>
              </a:pPr>
              <a:endParaRPr lang="en-US" sz="1400" b="0" strike="noStrike" spc="-1">
                <a:solidFill>
                  <a:srgbClr val="000000"/>
                </a:solidFill>
                <a:latin typeface="Arial"/>
                <a:ea typeface="Arial"/>
              </a:endParaRPr>
            </a:p>
          </p:txBody>
        </p:sp>
        <p:sp>
          <p:nvSpPr>
            <p:cNvPr id="167" name="Google Shape;179;p21"/>
            <p:cNvSpPr/>
            <p:nvPr/>
          </p:nvSpPr>
          <p:spPr>
            <a:xfrm>
              <a:off x="9012960" y="3859920"/>
              <a:ext cx="6051600" cy="689760"/>
            </a:xfrm>
            <a:prstGeom prst="rect">
              <a:avLst/>
            </a:prstGeom>
            <a:no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40000"/>
                </a:lnSpc>
                <a:tabLst>
                  <a:tab pos="0" algn="l"/>
                </a:tabLst>
              </a:pPr>
              <a:r>
                <a:rPr lang="en-US" sz="2200" b="0" strike="noStrike" spc="-1">
                  <a:solidFill>
                    <a:srgbClr val="FFFFFF"/>
                  </a:solidFill>
                  <a:latin typeface="Montserrat"/>
                  <a:ea typeface="Montserrat"/>
                </a:rPr>
                <a:t>Total Available Market (TAM)</a:t>
              </a:r>
              <a:endParaRPr lang="en-US" sz="2200" b="0" strike="noStrike" spc="-1">
                <a:solidFill>
                  <a:srgbClr val="000000"/>
                </a:solidFill>
                <a:latin typeface="Arial"/>
              </a:endParaRPr>
            </a:p>
          </p:txBody>
        </p:sp>
      </p:grpSp>
      <p:grpSp>
        <p:nvGrpSpPr>
          <p:cNvPr id="168" name="Google Shape;180;p21"/>
          <p:cNvGrpSpPr/>
          <p:nvPr/>
        </p:nvGrpSpPr>
        <p:grpSpPr>
          <a:xfrm>
            <a:off x="10639030" y="7253420"/>
            <a:ext cx="8162840" cy="545675"/>
            <a:chOff x="9159480" y="7509960"/>
            <a:chExt cx="8162840" cy="545675"/>
          </a:xfrm>
        </p:grpSpPr>
        <p:sp>
          <p:nvSpPr>
            <p:cNvPr id="169" name="Google Shape;181;p21"/>
            <p:cNvSpPr/>
            <p:nvPr/>
          </p:nvSpPr>
          <p:spPr>
            <a:xfrm>
              <a:off x="9159480" y="7509960"/>
              <a:ext cx="6683040" cy="545400"/>
            </a:xfrm>
            <a:custGeom>
              <a:avLst/>
              <a:gdLst>
                <a:gd name="textAreaLeft" fmla="*/ 0 w 6683040"/>
                <a:gd name="textAreaRight" fmla="*/ 6683400 w 6683040"/>
                <a:gd name="textAreaTop" fmla="*/ 0 h 545400"/>
                <a:gd name="textAreaBottom" fmla="*/ 545760 h 545400"/>
              </a:gdLst>
              <a:ahLst/>
              <a:cxnLst/>
              <a:rect l="textAreaLeft" t="textAreaTop" r="textAreaRight" b="textAreaBottom"/>
              <a:pathLst>
                <a:path w="1760253" h="143750">
                  <a:moveTo>
                    <a:pt x="59077" y="0"/>
                  </a:moveTo>
                  <a:lnTo>
                    <a:pt x="1701177" y="0"/>
                  </a:lnTo>
                  <a:cubicBezTo>
                    <a:pt x="1716845" y="0"/>
                    <a:pt x="1731871" y="6224"/>
                    <a:pt x="1742950" y="17303"/>
                  </a:cubicBezTo>
                  <a:cubicBezTo>
                    <a:pt x="1754029" y="28382"/>
                    <a:pt x="1760253" y="43409"/>
                    <a:pt x="1760253" y="59077"/>
                  </a:cubicBezTo>
                  <a:lnTo>
                    <a:pt x="1760253" y="84673"/>
                  </a:lnTo>
                  <a:cubicBezTo>
                    <a:pt x="1760253" y="117301"/>
                    <a:pt x="1733804" y="143750"/>
                    <a:pt x="1701177" y="143750"/>
                  </a:cubicBezTo>
                  <a:lnTo>
                    <a:pt x="59077" y="143750"/>
                  </a:lnTo>
                  <a:cubicBezTo>
                    <a:pt x="43409" y="143750"/>
                    <a:pt x="28382" y="137526"/>
                    <a:pt x="17303" y="126447"/>
                  </a:cubicBezTo>
                  <a:cubicBezTo>
                    <a:pt x="6224" y="115368"/>
                    <a:pt x="0" y="100342"/>
                    <a:pt x="0" y="84673"/>
                  </a:cubicBezTo>
                  <a:lnTo>
                    <a:pt x="0" y="59077"/>
                  </a:lnTo>
                  <a:cubicBezTo>
                    <a:pt x="0" y="26450"/>
                    <a:pt x="26450" y="0"/>
                    <a:pt x="59077" y="0"/>
                  </a:cubicBezTo>
                  <a:close/>
                </a:path>
              </a:pathLst>
            </a:custGeom>
            <a:solidFill>
              <a:srgbClr val="EECC1D"/>
            </a:solidFill>
            <a:ln w="0">
              <a:noFill/>
            </a:ln>
          </p:spPr>
          <p:style>
            <a:lnRef idx="0">
              <a:srgbClr val="FFFFFF"/>
            </a:lnRef>
            <a:fillRef idx="0">
              <a:srgbClr val="FFFFFF"/>
            </a:fillRef>
            <a:effectRef idx="0">
              <a:srgbClr val="FFFFFF"/>
            </a:effectRef>
            <a:fontRef idx="minor"/>
          </p:style>
          <p:txBody>
            <a:bodyPr tIns="91440" bIns="91440" anchor="ctr">
              <a:noAutofit/>
            </a:bodyPr>
            <a:p>
              <a:pPr>
                <a:lnSpc>
                  <a:spcPct val="100000"/>
                </a:lnSpc>
                <a:tabLst>
                  <a:tab pos="0" algn="l"/>
                </a:tabLst>
              </a:pPr>
              <a:endParaRPr lang="en-US" sz="1400" b="0" strike="noStrike" spc="-1">
                <a:solidFill>
                  <a:srgbClr val="000000"/>
                </a:solidFill>
                <a:latin typeface="Arial"/>
                <a:ea typeface="Arial"/>
              </a:endParaRPr>
            </a:p>
          </p:txBody>
        </p:sp>
        <p:sp>
          <p:nvSpPr>
            <p:cNvPr id="170" name="Google Shape;182;p21"/>
            <p:cNvSpPr/>
            <p:nvPr/>
          </p:nvSpPr>
          <p:spPr>
            <a:xfrm>
              <a:off x="10638560" y="7510235"/>
              <a:ext cx="6683760" cy="545400"/>
            </a:xfrm>
            <a:prstGeom prst="rect">
              <a:avLst/>
            </a:prstGeom>
            <a:no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40000"/>
                </a:lnSpc>
                <a:tabLst>
                  <a:tab pos="0" algn="l"/>
                </a:tabLst>
              </a:pPr>
              <a:r>
                <a:rPr lang="en-US" sz="2200" b="0" strike="noStrike" spc="-1">
                  <a:solidFill>
                    <a:srgbClr val="FFFFFF"/>
                  </a:solidFill>
                  <a:latin typeface="Montserrat"/>
                  <a:ea typeface="Montserrat"/>
                </a:rPr>
                <a:t>Serviceable Obtainable Market (SOM)</a:t>
              </a:r>
              <a:endParaRPr lang="en-US" sz="2200" b="0" strike="noStrike" spc="-1">
                <a:solidFill>
                  <a:srgbClr val="000000"/>
                </a:solidFill>
                <a:latin typeface="Arial"/>
              </a:endParaRPr>
            </a:p>
          </p:txBody>
        </p:sp>
      </p:grpSp>
      <p:sp>
        <p:nvSpPr>
          <p:cNvPr id="172" name="Google Shape;184;p21"/>
          <p:cNvSpPr/>
          <p:nvPr/>
        </p:nvSpPr>
        <p:spPr>
          <a:xfrm>
            <a:off x="0" y="87840"/>
            <a:ext cx="18287640" cy="1686240"/>
          </a:xfrm>
          <a:prstGeom prst="rect">
            <a:avLst/>
          </a:prstGeom>
          <a:solidFill>
            <a:srgbClr val="2598D3"/>
          </a:solidFill>
          <a:ln w="9525">
            <a:solidFill>
              <a:srgbClr val="1F497D"/>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143642"/>
              </a:solidFill>
              <a:latin typeface="Calibri"/>
              <a:ea typeface="Calibri"/>
            </a:endParaRPr>
          </a:p>
        </p:txBody>
      </p:sp>
      <p:sp>
        <p:nvSpPr>
          <p:cNvPr id="173" name="Google Shape;185;p21"/>
          <p:cNvSpPr/>
          <p:nvPr/>
        </p:nvSpPr>
        <p:spPr>
          <a:xfrm>
            <a:off x="1074600" y="595440"/>
            <a:ext cx="3927240" cy="82692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a:lnSpc>
                <a:spcPct val="100000"/>
              </a:lnSpc>
              <a:tabLst>
                <a:tab pos="0" algn="l"/>
              </a:tabLst>
            </a:pPr>
            <a:r>
              <a:rPr lang="en-US" sz="5300" b="1" strike="noStrike" spc="-1">
                <a:solidFill>
                  <a:srgbClr val="F0F6FC"/>
                </a:solidFill>
                <a:latin typeface="Arial"/>
                <a:ea typeface="Arial"/>
              </a:rPr>
              <a:t>Market</a:t>
            </a:r>
            <a:endParaRPr lang="en-US" sz="5300" b="0" strike="noStrike" spc="-1">
              <a:solidFill>
                <a:srgbClr val="000000"/>
              </a:solidFill>
              <a:latin typeface="Arial"/>
            </a:endParaRPr>
          </a:p>
        </p:txBody>
      </p:sp>
      <p:grpSp>
        <p:nvGrpSpPr>
          <p:cNvPr id="174" name="Google Shape;186;p21"/>
          <p:cNvGrpSpPr/>
          <p:nvPr/>
        </p:nvGrpSpPr>
        <p:grpSpPr>
          <a:xfrm>
            <a:off x="10638790" y="5530825"/>
            <a:ext cx="6683040" cy="689760"/>
            <a:chOff x="9052560" y="5661000"/>
            <a:chExt cx="6683040" cy="689760"/>
          </a:xfrm>
        </p:grpSpPr>
        <p:sp>
          <p:nvSpPr>
            <p:cNvPr id="175" name="Google Shape;187;p21"/>
            <p:cNvSpPr/>
            <p:nvPr/>
          </p:nvSpPr>
          <p:spPr>
            <a:xfrm>
              <a:off x="9052560" y="5733000"/>
              <a:ext cx="6683040" cy="545400"/>
            </a:xfrm>
            <a:custGeom>
              <a:avLst/>
              <a:gdLst>
                <a:gd name="textAreaLeft" fmla="*/ 0 w 6683040"/>
                <a:gd name="textAreaRight" fmla="*/ 6683400 w 6683040"/>
                <a:gd name="textAreaTop" fmla="*/ 0 h 545400"/>
                <a:gd name="textAreaBottom" fmla="*/ 545760 h 545400"/>
              </a:gdLst>
              <a:ahLst/>
              <a:cxnLst/>
              <a:rect l="textAreaLeft" t="textAreaTop" r="textAreaRight" b="textAreaBottom"/>
              <a:pathLst>
                <a:path w="1760253" h="143750">
                  <a:moveTo>
                    <a:pt x="59077" y="0"/>
                  </a:moveTo>
                  <a:lnTo>
                    <a:pt x="1701177" y="0"/>
                  </a:lnTo>
                  <a:cubicBezTo>
                    <a:pt x="1716845" y="0"/>
                    <a:pt x="1731871" y="6224"/>
                    <a:pt x="1742950" y="17303"/>
                  </a:cubicBezTo>
                  <a:cubicBezTo>
                    <a:pt x="1754029" y="28382"/>
                    <a:pt x="1760253" y="43409"/>
                    <a:pt x="1760253" y="59077"/>
                  </a:cubicBezTo>
                  <a:lnTo>
                    <a:pt x="1760253" y="84673"/>
                  </a:lnTo>
                  <a:cubicBezTo>
                    <a:pt x="1760253" y="117301"/>
                    <a:pt x="1733804" y="143750"/>
                    <a:pt x="1701177" y="143750"/>
                  </a:cubicBezTo>
                  <a:lnTo>
                    <a:pt x="59077" y="143750"/>
                  </a:lnTo>
                  <a:cubicBezTo>
                    <a:pt x="43409" y="143750"/>
                    <a:pt x="28382" y="137526"/>
                    <a:pt x="17303" y="126447"/>
                  </a:cubicBezTo>
                  <a:cubicBezTo>
                    <a:pt x="6224" y="115368"/>
                    <a:pt x="0" y="100342"/>
                    <a:pt x="0" y="84673"/>
                  </a:cubicBezTo>
                  <a:lnTo>
                    <a:pt x="0" y="59077"/>
                  </a:lnTo>
                  <a:cubicBezTo>
                    <a:pt x="0" y="26450"/>
                    <a:pt x="26450" y="0"/>
                    <a:pt x="59077" y="0"/>
                  </a:cubicBezTo>
                  <a:close/>
                </a:path>
              </a:pathLst>
            </a:custGeom>
            <a:solidFill>
              <a:srgbClr val="EECC1D"/>
            </a:solidFill>
            <a:ln w="0">
              <a:noFill/>
            </a:ln>
          </p:spPr>
          <p:style>
            <a:lnRef idx="0">
              <a:srgbClr val="FFFFFF"/>
            </a:lnRef>
            <a:fillRef idx="0">
              <a:srgbClr val="FFFFFF"/>
            </a:fillRef>
            <a:effectRef idx="0">
              <a:srgbClr val="FFFFFF"/>
            </a:effectRef>
            <a:fontRef idx="minor"/>
          </p:style>
          <p:txBody>
            <a:bodyPr tIns="91440" bIns="91440" anchor="ctr">
              <a:noAutofit/>
            </a:bodyPr>
            <a:p>
              <a:pPr>
                <a:lnSpc>
                  <a:spcPct val="100000"/>
                </a:lnSpc>
                <a:tabLst>
                  <a:tab pos="0" algn="l"/>
                </a:tabLst>
              </a:pPr>
              <a:endParaRPr lang="en-US" sz="1400" b="0" strike="noStrike" spc="-1">
                <a:solidFill>
                  <a:srgbClr val="000000"/>
                </a:solidFill>
                <a:latin typeface="Arial"/>
                <a:ea typeface="Arial"/>
              </a:endParaRPr>
            </a:p>
          </p:txBody>
        </p:sp>
        <p:sp>
          <p:nvSpPr>
            <p:cNvPr id="176" name="Google Shape;188;p21"/>
            <p:cNvSpPr/>
            <p:nvPr/>
          </p:nvSpPr>
          <p:spPr>
            <a:xfrm>
              <a:off x="9052560" y="5661000"/>
              <a:ext cx="6051600" cy="689760"/>
            </a:xfrm>
            <a:prstGeom prst="rect">
              <a:avLst/>
            </a:prstGeom>
            <a:no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40000"/>
                </a:lnSpc>
                <a:tabLst>
                  <a:tab pos="0" algn="l"/>
                </a:tabLst>
              </a:pPr>
              <a:r>
                <a:rPr lang="en-US" sz="2200" b="0" strike="noStrike" spc="-1">
                  <a:solidFill>
                    <a:schemeClr val="lt1"/>
                  </a:solidFill>
                  <a:latin typeface="Montserrat"/>
                  <a:ea typeface="Montserrat"/>
                </a:rPr>
                <a:t>Serviceable Available Market (SAM)</a:t>
              </a:r>
              <a:endParaRPr lang="en-US" sz="2200" b="0" strike="noStrike" spc="-1">
                <a:solidFill>
                  <a:srgbClr val="000000"/>
                </a:solidFill>
                <a:latin typeface="Arial"/>
              </a:endParaRPr>
            </a:p>
          </p:txBody>
        </p:sp>
      </p:grpSp>
      <p:sp>
        <p:nvSpPr>
          <p:cNvPr id="2" name="Text Box 1"/>
          <p:cNvSpPr txBox="1"/>
          <p:nvPr/>
        </p:nvSpPr>
        <p:spPr>
          <a:xfrm>
            <a:off x="10710545" y="4530725"/>
            <a:ext cx="6744970" cy="398780"/>
          </a:xfrm>
          <a:prstGeom prst="rect">
            <a:avLst/>
          </a:prstGeom>
          <a:noFill/>
        </p:spPr>
        <p:txBody>
          <a:bodyPr wrap="square" rtlCol="0">
            <a:spAutoFit/>
          </a:bodyPr>
          <a:p>
            <a:r>
              <a:rPr lang="en-US" altLang="en-US" sz="2000">
                <a:latin typeface="+mn-ea"/>
                <a:cs typeface="+mn-ea"/>
              </a:rPr>
              <a:t>~</a:t>
            </a:r>
            <a:r>
              <a:rPr lang="en-US" sz="2000">
                <a:latin typeface="+mn-ea"/>
                <a:cs typeface="+mn-ea"/>
              </a:rPr>
              <a:t>1.</a:t>
            </a:r>
            <a:r>
              <a:rPr lang="en-US" altLang="en-US" sz="2000">
                <a:latin typeface="+mn-ea"/>
                <a:cs typeface="+mn-ea"/>
              </a:rPr>
              <a:t>6</a:t>
            </a:r>
            <a:r>
              <a:rPr lang="en-US" sz="2000">
                <a:latin typeface="+mn-ea"/>
                <a:cs typeface="+mn-ea"/>
              </a:rPr>
              <a:t> million farmers </a:t>
            </a:r>
            <a:r>
              <a:rPr lang="en-US" altLang="en-US" sz="2000">
                <a:latin typeface="+mn-ea"/>
                <a:cs typeface="+mn-ea"/>
              </a:rPr>
              <a:t>= 96,000,000ZMW</a:t>
            </a:r>
            <a:endParaRPr lang="en-US" altLang="en-US" sz="2000">
              <a:latin typeface="+mn-ea"/>
              <a:cs typeface="+mn-ea"/>
            </a:endParaRPr>
          </a:p>
        </p:txBody>
      </p:sp>
      <p:sp>
        <p:nvSpPr>
          <p:cNvPr id="3" name="Text Box 2"/>
          <p:cNvSpPr txBox="1"/>
          <p:nvPr/>
        </p:nvSpPr>
        <p:spPr>
          <a:xfrm>
            <a:off x="10638790" y="6471920"/>
            <a:ext cx="5884545" cy="706755"/>
          </a:xfrm>
          <a:prstGeom prst="rect">
            <a:avLst/>
          </a:prstGeom>
          <a:noFill/>
        </p:spPr>
        <p:txBody>
          <a:bodyPr wrap="square" rtlCol="0">
            <a:spAutoFit/>
          </a:bodyPr>
          <a:p>
            <a:r>
              <a:rPr lang="en-US" altLang="en-US" sz="2000">
                <a:latin typeface="+mj-lt"/>
                <a:cs typeface="+mj-lt"/>
              </a:rPr>
              <a:t>~</a:t>
            </a:r>
            <a:r>
              <a:rPr lang="en-US" sz="2000">
                <a:latin typeface="+mj-lt"/>
                <a:cs typeface="+mj-lt"/>
              </a:rPr>
              <a:t>1</a:t>
            </a:r>
            <a:r>
              <a:rPr lang="en-US" altLang="en-US" sz="2000">
                <a:latin typeface="+mj-lt"/>
                <a:cs typeface="+mj-lt"/>
              </a:rPr>
              <a:t>,</a:t>
            </a:r>
            <a:r>
              <a:rPr lang="en-US" sz="2000">
                <a:latin typeface="+mj-lt"/>
                <a:cs typeface="+mj-lt"/>
              </a:rPr>
              <a:t>264</a:t>
            </a:r>
            <a:r>
              <a:rPr lang="en-US" altLang="en-US" sz="2000">
                <a:latin typeface="+mj-lt"/>
                <a:cs typeface="+mj-lt"/>
              </a:rPr>
              <a:t>,</a:t>
            </a:r>
            <a:r>
              <a:rPr lang="en-US" sz="2000">
                <a:latin typeface="+mj-lt"/>
                <a:cs typeface="+mj-lt"/>
              </a:rPr>
              <a:t>000 million farmers </a:t>
            </a:r>
            <a:r>
              <a:rPr lang="en-US" altLang="en-US" sz="2000">
                <a:latin typeface="+mj-lt"/>
                <a:cs typeface="+mj-lt"/>
              </a:rPr>
              <a:t>= 75,840,000ZMW</a:t>
            </a:r>
            <a:endParaRPr lang="en-US" altLang="en-US" sz="2000">
              <a:latin typeface="+mj-lt"/>
              <a:cs typeface="+mj-lt"/>
            </a:endParaRPr>
          </a:p>
        </p:txBody>
      </p:sp>
      <p:sp>
        <p:nvSpPr>
          <p:cNvPr id="4" name="Text Box 3"/>
          <p:cNvSpPr txBox="1"/>
          <p:nvPr/>
        </p:nvSpPr>
        <p:spPr>
          <a:xfrm>
            <a:off x="10869295" y="8128635"/>
            <a:ext cx="4569460" cy="368300"/>
          </a:xfrm>
          <a:prstGeom prst="rect">
            <a:avLst/>
          </a:prstGeom>
          <a:noFill/>
        </p:spPr>
        <p:txBody>
          <a:bodyPr wrap="square" rtlCol="0">
            <a:spAutoFit/>
          </a:bodyPr>
          <a:p>
            <a:pPr algn="ctr"/>
            <a:r>
              <a:rPr lang="en-US" altLang="en-US"/>
              <a:t>~</a:t>
            </a:r>
            <a:r>
              <a:rPr lang="en-US"/>
              <a:t>101</a:t>
            </a:r>
            <a:r>
              <a:rPr lang="en-US" altLang="en-US"/>
              <a:t>,</a:t>
            </a:r>
            <a:r>
              <a:rPr lang="en-US"/>
              <a:t>000 farmers </a:t>
            </a:r>
            <a:r>
              <a:rPr lang="en-US" altLang="en-US"/>
              <a:t>=6,060,000ZMW</a:t>
            </a:r>
            <a:endParaRPr lang="en-US" altLang="en-US"/>
          </a:p>
        </p:txBody>
      </p:sp>
      <p:graphicFrame>
        <p:nvGraphicFramePr>
          <p:cNvPr id="7" name="Chart 6"/>
          <p:cNvGraphicFramePr/>
          <p:nvPr/>
        </p:nvGraphicFramePr>
        <p:xfrm>
          <a:off x="960755" y="2345055"/>
          <a:ext cx="8957945" cy="6934835"/>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 Box 7"/>
          <p:cNvSpPr txBox="1"/>
          <p:nvPr/>
        </p:nvSpPr>
        <p:spPr>
          <a:xfrm>
            <a:off x="10820400" y="2640965"/>
            <a:ext cx="6244590" cy="398780"/>
          </a:xfrm>
          <a:prstGeom prst="rect">
            <a:avLst/>
          </a:prstGeom>
          <a:noFill/>
        </p:spPr>
        <p:txBody>
          <a:bodyPr wrap="square" rtlCol="0">
            <a:spAutoFit/>
          </a:bodyPr>
          <a:p>
            <a:r>
              <a:rPr lang="en-US" altLang="en-US" sz="2000" b="1"/>
              <a:t>DEMOGRAPH 1.6 MILLION FARMERS</a:t>
            </a:r>
            <a:endParaRPr lang="en-US" altLang="en-US" sz="2000" b="1"/>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Google Shape;193;p22"/>
          <p:cNvSpPr/>
          <p:nvPr/>
        </p:nvSpPr>
        <p:spPr>
          <a:xfrm>
            <a:off x="1028520" y="690480"/>
            <a:ext cx="791604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2598D3"/>
                </a:solidFill>
                <a:latin typeface="Plus Jakarta Sans ExtraBold"/>
                <a:ea typeface="Plus Jakarta Sans ExtraBold"/>
              </a:rPr>
              <a:t>Competition</a:t>
            </a:r>
            <a:endParaRPr lang="en-US" sz="5600" b="0" strike="noStrike" spc="-1">
              <a:solidFill>
                <a:srgbClr val="000000"/>
              </a:solidFill>
              <a:latin typeface="Arial"/>
            </a:endParaRPr>
          </a:p>
        </p:txBody>
      </p:sp>
      <p:sp>
        <p:nvSpPr>
          <p:cNvPr id="178" name="Google Shape;194;p22"/>
          <p:cNvSpPr/>
          <p:nvPr/>
        </p:nvSpPr>
        <p:spPr>
          <a:xfrm>
            <a:off x="1074600" y="1670400"/>
            <a:ext cx="10127520" cy="479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3000" b="0" strike="noStrike" spc="-1">
                <a:solidFill>
                  <a:srgbClr val="143642"/>
                </a:solidFill>
                <a:latin typeface="Plus Jakarta Sans Medium"/>
                <a:ea typeface="Plus Jakarta Sans Medium"/>
              </a:rPr>
              <a:t>Here is our competitors list and what they are doing</a:t>
            </a:r>
            <a:endParaRPr lang="en-US" sz="3000" b="0" strike="noStrike" spc="-1">
              <a:solidFill>
                <a:srgbClr val="000000"/>
              </a:solidFill>
              <a:latin typeface="Arial"/>
            </a:endParaRPr>
          </a:p>
        </p:txBody>
      </p:sp>
      <p:graphicFrame>
        <p:nvGraphicFramePr>
          <p:cNvPr id="2" name="Table 1"/>
          <p:cNvGraphicFramePr/>
          <p:nvPr/>
        </p:nvGraphicFramePr>
        <p:xfrm>
          <a:off x="1074420" y="3001645"/>
          <a:ext cx="16074390" cy="5502910"/>
        </p:xfrm>
        <a:graphic>
          <a:graphicData uri="http://schemas.openxmlformats.org/drawingml/2006/table">
            <a:tbl>
              <a:tblPr firstRow="1" bandRow="1">
                <a:tableStyleId>{5C22544A-7EE6-4342-B048-85BDC9FD1C3A}</a:tableStyleId>
              </a:tblPr>
              <a:tblGrid>
                <a:gridCol w="7062470"/>
                <a:gridCol w="2141855"/>
                <a:gridCol w="3644900"/>
                <a:gridCol w="2262505"/>
                <a:gridCol w="962660"/>
              </a:tblGrid>
              <a:tr h="701040">
                <a:tc>
                  <a:txBody>
                    <a:bodyPr/>
                    <a:p>
                      <a:pPr>
                        <a:buNone/>
                      </a:pPr>
                      <a:r>
                        <a:rPr lang="en-US" altLang="en-US" sz="2000">
                          <a:latin typeface="Arial narrow" charset="0"/>
                          <a:cs typeface="Arial narrow" charset="0"/>
                        </a:rPr>
                        <a:t>unique selling point(feature)</a:t>
                      </a:r>
                      <a:endParaRPr lang="en-US" altLang="en-US" sz="2000">
                        <a:latin typeface="Arial narrow" charset="0"/>
                        <a:cs typeface="Arial narrow" charset="0"/>
                      </a:endParaRPr>
                    </a:p>
                  </a:txBody>
                  <a:tcPr/>
                </a:tc>
                <a:tc>
                  <a:txBody>
                    <a:bodyPr/>
                    <a:p>
                      <a:pPr>
                        <a:buNone/>
                      </a:pPr>
                      <a:r>
                        <a:rPr lang="en-US" altLang="en-US" sz="2000">
                          <a:latin typeface="Arial narrow" charset="0"/>
                          <a:cs typeface="Arial narrow" charset="0"/>
                        </a:rPr>
                        <a:t>AgroSpeak Connect</a:t>
                      </a:r>
                      <a:endParaRPr lang="en-US" altLang="en-US" sz="2000">
                        <a:latin typeface="Arial narrow" charset="0"/>
                        <a:cs typeface="Arial narrow" charset="0"/>
                      </a:endParaRPr>
                    </a:p>
                  </a:txBody>
                  <a:tcPr/>
                </a:tc>
                <a:tc>
                  <a:txBody>
                    <a:bodyPr/>
                    <a:p>
                      <a:pPr>
                        <a:buNone/>
                      </a:pPr>
                      <a:r>
                        <a:rPr lang="en-US" sz="2000">
                          <a:latin typeface="Arial narrow" charset="0"/>
                          <a:cs typeface="Arial narrow" charset="0"/>
                        </a:rPr>
                        <a:t>Radio Farming</a:t>
                      </a:r>
                      <a:endParaRPr lang="en-US" sz="2000">
                        <a:latin typeface="Arial narrow" charset="0"/>
                        <a:cs typeface="Arial narrow" charset="0"/>
                      </a:endParaRPr>
                    </a:p>
                    <a:p>
                      <a:pPr>
                        <a:buNone/>
                      </a:pPr>
                      <a:r>
                        <a:rPr lang="en-US" sz="2000">
                          <a:latin typeface="Arial narrow" charset="0"/>
                          <a:cs typeface="Arial narrow" charset="0"/>
                        </a:rPr>
                        <a:t>Programs</a:t>
                      </a:r>
                      <a:endParaRPr lang="en-US" sz="2000">
                        <a:latin typeface="Arial narrow" charset="0"/>
                        <a:cs typeface="Arial narrow" charset="0"/>
                      </a:endParaRPr>
                    </a:p>
                  </a:txBody>
                  <a:tcPr/>
                </a:tc>
                <a:tc>
                  <a:txBody>
                    <a:bodyPr/>
                    <a:p>
                      <a:pPr>
                        <a:buNone/>
                      </a:pPr>
                      <a:r>
                        <a:rPr lang="en-US" sz="2000">
                          <a:latin typeface="Arial narrow" charset="0"/>
                          <a:cs typeface="Arial narrow" charset="0"/>
                        </a:rPr>
                        <a:t>Mobile Money</a:t>
                      </a:r>
                      <a:endParaRPr lang="en-US" sz="2000">
                        <a:latin typeface="Arial narrow" charset="0"/>
                        <a:cs typeface="Arial narrow" charset="0"/>
                      </a:endParaRPr>
                    </a:p>
                    <a:p>
                      <a:pPr>
                        <a:buNone/>
                      </a:pPr>
                      <a:r>
                        <a:rPr lang="en-US" sz="2000">
                          <a:latin typeface="Arial narrow" charset="0"/>
                          <a:cs typeface="Arial narrow" charset="0"/>
                        </a:rPr>
                        <a:t>Agents</a:t>
                      </a:r>
                      <a:endParaRPr lang="en-US" sz="2000">
                        <a:latin typeface="Arial narrow" charset="0"/>
                        <a:cs typeface="Arial narrow" charset="0"/>
                      </a:endParaRPr>
                    </a:p>
                  </a:txBody>
                  <a:tcPr/>
                </a:tc>
                <a:tc>
                  <a:txBody>
                    <a:bodyPr/>
                    <a:p>
                      <a:pPr>
                        <a:buNone/>
                      </a:pPr>
                      <a:endParaRPr lang="en-US" sz="2000">
                        <a:latin typeface="Arial narrow" charset="0"/>
                        <a:cs typeface="Arial narrow" charset="0"/>
                      </a:endParaRPr>
                    </a:p>
                  </a:txBody>
                  <a:tcPr/>
                </a:tc>
              </a:tr>
              <a:tr h="701040">
                <a:tc>
                  <a:txBody>
                    <a:bodyPr/>
                    <a:p>
                      <a:pPr>
                        <a:buNone/>
                      </a:pPr>
                      <a:r>
                        <a:rPr lang="en-US" sz="2000">
                          <a:latin typeface="Arial narrow" charset="0"/>
                          <a:cs typeface="Arial narrow" charset="0"/>
                        </a:rPr>
                        <a:t>Integrated Service Ecosystem</a:t>
                      </a:r>
                      <a:endParaRPr lang="en-US" sz="2000">
                        <a:latin typeface="Arial narrow" charset="0"/>
                        <a:cs typeface="Arial narrow" charset="0"/>
                      </a:endParaRPr>
                    </a:p>
                  </a:txBody>
                  <a:tcPr/>
                </a:tc>
                <a:tc>
                  <a:txBody>
                    <a:bodyPr/>
                    <a:p>
                      <a:pPr algn="ctr">
                        <a:buNone/>
                      </a:pPr>
                      <a:r>
                        <a:rPr lang="en-US" sz="3600">
                          <a:solidFill>
                            <a:srgbClr val="00B050"/>
                          </a:solidFill>
                          <a:latin typeface="东文宋体" charset="0"/>
                          <a:cs typeface="东文宋体" charset="0"/>
                          <a:sym typeface="+mn-ea"/>
                        </a:rPr>
                        <a:t>√</a:t>
                      </a:r>
                      <a:endParaRPr lang="en-US" sz="3600">
                        <a:latin typeface="Arial narrow" charset="0"/>
                        <a:cs typeface="Arial narrow" charset="0"/>
                      </a:endParaRPr>
                    </a:p>
                  </a:txBody>
                  <a:tcPr/>
                </a:tc>
                <a:tc>
                  <a:txBody>
                    <a:bodyPr/>
                    <a:p>
                      <a:pPr algn="ctr">
                        <a:buNone/>
                      </a:pPr>
                      <a:r>
                        <a:rPr lang="en-US" sz="4000" b="0">
                          <a:solidFill>
                            <a:srgbClr val="FF0000"/>
                          </a:solidFill>
                          <a:cs typeface="Arial narrow" charset="0"/>
                          <a:sym typeface="+mn-ea"/>
                        </a:rPr>
                        <a:t>×</a:t>
                      </a:r>
                      <a:endParaRPr lang="en-US" sz="4000" b="0">
                        <a:solidFill>
                          <a:srgbClr val="FF0000"/>
                        </a:solidFill>
                        <a:latin typeface="Arial narrow" charset="0"/>
                        <a:cs typeface="Arial narrow" charset="0"/>
                        <a:sym typeface="+mn-ea"/>
                      </a:endParaRPr>
                    </a:p>
                  </a:txBody>
                  <a:tcPr>
                    <a:solidFill>
                      <a:schemeClr val="bg1">
                        <a:lumMod val="75000"/>
                      </a:schemeClr>
                    </a:solidFill>
                  </a:tcPr>
                </a:tc>
                <a:tc>
                  <a:txBody>
                    <a:bodyPr/>
                    <a:p>
                      <a:pPr algn="ctr">
                        <a:buNone/>
                      </a:pPr>
                      <a:r>
                        <a:rPr lang="en-US" sz="3600">
                          <a:solidFill>
                            <a:srgbClr val="00B050"/>
                          </a:solidFill>
                          <a:latin typeface="东文宋体" charset="0"/>
                          <a:cs typeface="东文宋体" charset="0"/>
                          <a:sym typeface="+mn-ea"/>
                        </a:rPr>
                        <a:t>√</a:t>
                      </a:r>
                      <a:endParaRPr lang="en-US" sz="3600">
                        <a:latin typeface="Arial narrow" charset="0"/>
                        <a:cs typeface="Arial narrow" charset="0"/>
                      </a:endParaRPr>
                    </a:p>
                  </a:txBody>
                  <a:tcPr/>
                </a:tc>
                <a:tc>
                  <a:txBody>
                    <a:bodyPr/>
                    <a:p>
                      <a:pPr>
                        <a:buNone/>
                      </a:pPr>
                      <a:endParaRPr lang="en-US" sz="2000">
                        <a:latin typeface="Arial narrow" charset="0"/>
                        <a:cs typeface="Arial narrow" charset="0"/>
                      </a:endParaRPr>
                    </a:p>
                  </a:txBody>
                  <a:tcPr/>
                </a:tc>
              </a:tr>
              <a:tr h="944880">
                <a:tc>
                  <a:txBody>
                    <a:bodyPr/>
                    <a:p>
                      <a:pPr>
                        <a:buNone/>
                      </a:pPr>
                      <a:r>
                        <a:rPr lang="en-US" sz="2000">
                          <a:latin typeface="Arial narrow" charset="0"/>
                          <a:cs typeface="Arial narrow" charset="0"/>
                        </a:rPr>
                        <a:t>Multi-Channel Reach</a:t>
                      </a:r>
                      <a:endParaRPr lang="en-US" sz="2000">
                        <a:latin typeface="Arial narrow" charset="0"/>
                        <a:cs typeface="Arial narrow" charset="0"/>
                      </a:endParaRPr>
                    </a:p>
                  </a:txBody>
                  <a:tcPr/>
                </a:tc>
                <a:tc>
                  <a:txBody>
                    <a:bodyPr/>
                    <a:p>
                      <a:pPr algn="ctr">
                        <a:buNone/>
                      </a:pPr>
                      <a:r>
                        <a:rPr lang="en-US" sz="3600">
                          <a:solidFill>
                            <a:srgbClr val="00B050"/>
                          </a:solidFill>
                          <a:latin typeface="东文宋体" charset="0"/>
                          <a:cs typeface="东文宋体" charset="0"/>
                          <a:sym typeface="+mn-ea"/>
                        </a:rPr>
                        <a:t>√</a:t>
                      </a:r>
                      <a:endParaRPr lang="en-US" sz="3600">
                        <a:latin typeface="Arial narrow" charset="0"/>
                        <a:cs typeface="Arial narrow" charset="0"/>
                      </a:endParaRPr>
                    </a:p>
                  </a:txBody>
                  <a:tcPr/>
                </a:tc>
                <a:tc>
                  <a:txBody>
                    <a:bodyPr/>
                    <a:p>
                      <a:pPr algn="ctr">
                        <a:buNone/>
                      </a:pPr>
                      <a:r>
                        <a:rPr lang="en-US" sz="3600" b="1">
                          <a:solidFill>
                            <a:srgbClr val="FF0000"/>
                          </a:solidFill>
                          <a:cs typeface="Arial narrow" charset="0"/>
                          <a:sym typeface="+mn-ea"/>
                        </a:rPr>
                        <a:t>×</a:t>
                      </a:r>
                      <a:endParaRPr lang="en-US" sz="2000">
                        <a:solidFill>
                          <a:srgbClr val="FF0000"/>
                        </a:solidFill>
                        <a:latin typeface="Arial narrow" charset="0"/>
                        <a:cs typeface="Arial narrow" charset="0"/>
                        <a:sym typeface="+mn-ea"/>
                      </a:endParaRPr>
                    </a:p>
                    <a:p>
                      <a:pPr>
                        <a:buNone/>
                      </a:pPr>
                      <a:endParaRPr lang="en-US" sz="2000">
                        <a:latin typeface="Arial narrow" charset="0"/>
                        <a:cs typeface="Arial narrow" charset="0"/>
                      </a:endParaRPr>
                    </a:p>
                  </a:txBody>
                  <a:tcPr/>
                </a:tc>
                <a:tc>
                  <a:txBody>
                    <a:bodyPr/>
                    <a:p>
                      <a:pPr algn="ctr">
                        <a:buNone/>
                      </a:pPr>
                      <a:r>
                        <a:rPr lang="en-US" sz="3600" b="1">
                          <a:solidFill>
                            <a:srgbClr val="00B050"/>
                          </a:solidFill>
                          <a:latin typeface="东文宋体" charset="0"/>
                          <a:cs typeface="东文宋体" charset="0"/>
                          <a:sym typeface="+mn-ea"/>
                        </a:rPr>
                        <a:t>√</a:t>
                      </a:r>
                      <a:endParaRPr lang="en-US" sz="3600" b="1">
                        <a:latin typeface="Arial narrow" charset="0"/>
                        <a:cs typeface="Arial narrow" charset="0"/>
                      </a:endParaRPr>
                    </a:p>
                  </a:txBody>
                  <a:tcPr/>
                </a:tc>
                <a:tc>
                  <a:txBody>
                    <a:bodyPr/>
                    <a:p>
                      <a:pPr>
                        <a:buNone/>
                      </a:pPr>
                      <a:endParaRPr lang="en-US" sz="2000">
                        <a:latin typeface="Arial narrow" charset="0"/>
                        <a:cs typeface="Arial narrow" charset="0"/>
                      </a:endParaRPr>
                    </a:p>
                  </a:txBody>
                  <a:tcPr/>
                </a:tc>
              </a:tr>
              <a:tr h="1249680">
                <a:tc>
                  <a:txBody>
                    <a:bodyPr/>
                    <a:p>
                      <a:pPr>
                        <a:buNone/>
                      </a:pPr>
                      <a:r>
                        <a:rPr lang="en-US" sz="2000">
                          <a:latin typeface="Arial narrow" charset="0"/>
                          <a:cs typeface="Arial narrow" charset="0"/>
                        </a:rPr>
                        <a:t>Bundled services: loans +</a:t>
                      </a:r>
                      <a:endParaRPr lang="en-US" sz="2000">
                        <a:latin typeface="Arial narrow" charset="0"/>
                        <a:cs typeface="Arial narrow" charset="0"/>
                      </a:endParaRPr>
                    </a:p>
                    <a:p>
                      <a:pPr>
                        <a:buNone/>
                      </a:pPr>
                      <a:r>
                        <a:rPr lang="en-US" sz="2000">
                          <a:latin typeface="Arial narrow" charset="0"/>
                          <a:cs typeface="Arial narrow" charset="0"/>
                        </a:rPr>
                        <a:t>agricultural advice + market</a:t>
                      </a:r>
                      <a:endParaRPr lang="en-US" sz="2000">
                        <a:latin typeface="Arial narrow" charset="0"/>
                        <a:cs typeface="Arial narrow" charset="0"/>
                      </a:endParaRPr>
                    </a:p>
                    <a:p>
                      <a:pPr>
                        <a:buNone/>
                      </a:pPr>
                      <a:r>
                        <a:rPr lang="en-US" sz="2000">
                          <a:latin typeface="Arial narrow" charset="0"/>
                          <a:cs typeface="Arial narrow" charset="0"/>
                        </a:rPr>
                        <a:t>access.</a:t>
                      </a:r>
                      <a:endParaRPr lang="en-US" sz="2000">
                        <a:latin typeface="Arial narrow" charset="0"/>
                        <a:cs typeface="Arial narrow" charset="0"/>
                      </a:endParaRPr>
                    </a:p>
                  </a:txBody>
                  <a:tcPr/>
                </a:tc>
                <a:tc>
                  <a:txBody>
                    <a:bodyPr/>
                    <a:p>
                      <a:pPr algn="ctr">
                        <a:buNone/>
                      </a:pPr>
                      <a:r>
                        <a:rPr lang="en-US" sz="3600">
                          <a:solidFill>
                            <a:srgbClr val="00B050"/>
                          </a:solidFill>
                          <a:latin typeface="东文宋体" charset="0"/>
                          <a:cs typeface="东文宋体" charset="0"/>
                          <a:sym typeface="+mn-ea"/>
                        </a:rPr>
                        <a:t>√</a:t>
                      </a:r>
                      <a:endParaRPr lang="en-US" sz="3600">
                        <a:latin typeface="Arial narrow" charset="0"/>
                        <a:cs typeface="Arial narrow" charset="0"/>
                      </a:endParaRPr>
                    </a:p>
                  </a:txBody>
                  <a:tcPr/>
                </a:tc>
                <a:tc>
                  <a:txBody>
                    <a:bodyPr/>
                    <a:p>
                      <a:pPr algn="ctr">
                        <a:buNone/>
                      </a:pPr>
                      <a:r>
                        <a:rPr lang="en-US" sz="3600" b="1">
                          <a:solidFill>
                            <a:srgbClr val="FF0000"/>
                          </a:solidFill>
                          <a:cs typeface="Arial narrow" charset="0"/>
                          <a:sym typeface="+mn-ea"/>
                        </a:rPr>
                        <a:t>×</a:t>
                      </a:r>
                      <a:endParaRPr lang="en-US" sz="2000">
                        <a:solidFill>
                          <a:srgbClr val="FF0000"/>
                        </a:solidFill>
                        <a:latin typeface="Arial narrow" charset="0"/>
                        <a:cs typeface="Arial narrow" charset="0"/>
                        <a:sym typeface="+mn-ea"/>
                      </a:endParaRPr>
                    </a:p>
                    <a:p>
                      <a:pPr>
                        <a:buNone/>
                      </a:pPr>
                      <a:endParaRPr lang="en-US" sz="2000">
                        <a:cs typeface="Arial narrow" charset="0"/>
                        <a:sym typeface="+mn-ea"/>
                      </a:endParaRPr>
                    </a:p>
                    <a:p>
                      <a:pPr>
                        <a:buNone/>
                      </a:pPr>
                      <a:endParaRPr lang="en-US" sz="2000">
                        <a:latin typeface="Arial narrow" charset="0"/>
                        <a:cs typeface="Arial narrow" charset="0"/>
                      </a:endParaRPr>
                    </a:p>
                  </a:txBody>
                  <a:tcPr/>
                </a:tc>
                <a:tc>
                  <a:txBody>
                    <a:bodyPr/>
                    <a:p>
                      <a:pPr algn="ctr">
                        <a:buNone/>
                      </a:pPr>
                      <a:r>
                        <a:rPr lang="en-US" sz="3600" b="1">
                          <a:solidFill>
                            <a:srgbClr val="FF0000"/>
                          </a:solidFill>
                          <a:cs typeface="Arial narrow" charset="0"/>
                          <a:sym typeface="+mn-ea"/>
                        </a:rPr>
                        <a:t>×</a:t>
                      </a:r>
                      <a:endParaRPr lang="en-US" sz="3600" b="1">
                        <a:solidFill>
                          <a:srgbClr val="FF0000"/>
                        </a:solidFill>
                        <a:latin typeface="Arial narrow" charset="0"/>
                        <a:cs typeface="Arial narrow" charset="0"/>
                        <a:sym typeface="+mn-ea"/>
                      </a:endParaRPr>
                    </a:p>
                  </a:txBody>
                  <a:tcPr/>
                </a:tc>
                <a:tc>
                  <a:txBody>
                    <a:bodyPr/>
                    <a:p>
                      <a:pPr>
                        <a:buNone/>
                      </a:pPr>
                      <a:endParaRPr lang="en-US" sz="2000">
                        <a:latin typeface="Arial narrow" charset="0"/>
                        <a:cs typeface="Arial narrow" charset="0"/>
                      </a:endParaRPr>
                    </a:p>
                  </a:txBody>
                  <a:tcPr/>
                </a:tc>
              </a:tr>
              <a:tr h="953135">
                <a:tc>
                  <a:txBody>
                    <a:bodyPr/>
                    <a:p>
                      <a:pPr>
                        <a:buNone/>
                      </a:pPr>
                      <a:r>
                        <a:rPr lang="en-US" sz="2000">
                          <a:latin typeface="Arial narrow" charset="0"/>
                          <a:cs typeface="Arial narrow" charset="0"/>
                        </a:rPr>
                        <a:t>Require </a:t>
                      </a:r>
                      <a:r>
                        <a:rPr lang="en-US" altLang="en-US" sz="2000">
                          <a:latin typeface="Arial narrow" charset="0"/>
                          <a:cs typeface="Arial narrow" charset="0"/>
                        </a:rPr>
                        <a:t>is not </a:t>
                      </a:r>
                      <a:r>
                        <a:rPr lang="en-US" sz="2000">
                          <a:latin typeface="Arial narrow" charset="0"/>
                          <a:cs typeface="Arial narrow" charset="0"/>
                        </a:rPr>
                        <a:t> literacy</a:t>
                      </a:r>
                      <a:endParaRPr lang="en-US" sz="2000">
                        <a:latin typeface="Arial narrow" charset="0"/>
                        <a:cs typeface="Arial narrow" charset="0"/>
                      </a:endParaRPr>
                    </a:p>
                  </a:txBody>
                  <a:tcPr/>
                </a:tc>
                <a:tc>
                  <a:txBody>
                    <a:bodyPr/>
                    <a:p>
                      <a:pPr algn="ctr">
                        <a:buNone/>
                      </a:pPr>
                      <a:r>
                        <a:rPr lang="en-US" sz="3600">
                          <a:solidFill>
                            <a:srgbClr val="00B050"/>
                          </a:solidFill>
                          <a:latin typeface="东文宋体" charset="0"/>
                          <a:cs typeface="东文宋体" charset="0"/>
                          <a:sym typeface="+mn-ea"/>
                        </a:rPr>
                        <a:t>√</a:t>
                      </a:r>
                      <a:endParaRPr lang="en-US" sz="3600">
                        <a:solidFill>
                          <a:srgbClr val="00B050"/>
                        </a:solidFill>
                        <a:latin typeface="东文宋体" charset="0"/>
                        <a:cs typeface="东文宋体" charset="0"/>
                        <a:sym typeface="+mn-ea"/>
                      </a:endParaRPr>
                    </a:p>
                  </a:txBody>
                  <a:tcPr/>
                </a:tc>
                <a:tc>
                  <a:txBody>
                    <a:bodyPr/>
                    <a:p>
                      <a:pPr algn="ctr">
                        <a:buNone/>
                      </a:pPr>
                      <a:r>
                        <a:rPr lang="en-US" sz="3600" b="1">
                          <a:solidFill>
                            <a:srgbClr val="FF0000"/>
                          </a:solidFill>
                          <a:cs typeface="Arial narrow" charset="0"/>
                          <a:sym typeface="+mn-ea"/>
                        </a:rPr>
                        <a:t>×</a:t>
                      </a:r>
                      <a:endParaRPr lang="en-US" sz="3600">
                        <a:latin typeface="Arial narrow" charset="0"/>
                        <a:cs typeface="Arial narrow" charset="0"/>
                      </a:endParaRPr>
                    </a:p>
                  </a:txBody>
                  <a:tcPr/>
                </a:tc>
                <a:tc>
                  <a:txBody>
                    <a:bodyPr/>
                    <a:p>
                      <a:pPr algn="ctr">
                        <a:buNone/>
                      </a:pPr>
                      <a:r>
                        <a:rPr lang="en-US" sz="3600" b="1">
                          <a:solidFill>
                            <a:srgbClr val="FF0000"/>
                          </a:solidFill>
                          <a:cs typeface="Arial narrow" charset="0"/>
                          <a:sym typeface="+mn-ea"/>
                        </a:rPr>
                        <a:t>×</a:t>
                      </a:r>
                      <a:endParaRPr lang="en-US" sz="3600">
                        <a:latin typeface="Arial narrow" charset="0"/>
                        <a:cs typeface="Arial narrow" charset="0"/>
                      </a:endParaRPr>
                    </a:p>
                  </a:txBody>
                  <a:tcPr/>
                </a:tc>
                <a:tc>
                  <a:txBody>
                    <a:bodyPr/>
                    <a:p>
                      <a:pPr>
                        <a:buNone/>
                      </a:pPr>
                      <a:endParaRPr lang="en-US" sz="2000">
                        <a:latin typeface="Arial narrow" charset="0"/>
                        <a:cs typeface="Arial narrow" charset="0"/>
                      </a:endParaRPr>
                    </a:p>
                  </a:txBody>
                  <a:tcPr/>
                </a:tc>
              </a:tr>
              <a:tr h="953135">
                <a:tc>
                  <a:txBody>
                    <a:bodyPr/>
                    <a:p>
                      <a:pPr>
                        <a:buNone/>
                      </a:pPr>
                      <a:r>
                        <a:rPr lang="en-US" altLang="en-US" sz="2000">
                          <a:latin typeface="Arial narrow" charset="0"/>
                          <a:cs typeface="Arial narrow" charset="0"/>
                        </a:rPr>
                        <a:t>Agriculture centered information and services</a:t>
                      </a:r>
                      <a:endParaRPr lang="en-US" altLang="en-US" sz="2000">
                        <a:latin typeface="Arial narrow" charset="0"/>
                        <a:cs typeface="Arial narrow" charset="0"/>
                      </a:endParaRPr>
                    </a:p>
                  </a:txBody>
                  <a:tcPr/>
                </a:tc>
                <a:tc>
                  <a:txBody>
                    <a:bodyPr/>
                    <a:p>
                      <a:pPr algn="ctr">
                        <a:buNone/>
                      </a:pPr>
                      <a:r>
                        <a:rPr lang="en-US" sz="3200">
                          <a:solidFill>
                            <a:srgbClr val="00B050"/>
                          </a:solidFill>
                          <a:latin typeface="东文宋体" charset="0"/>
                          <a:cs typeface="东文宋体" charset="0"/>
                          <a:sym typeface="+mn-ea"/>
                        </a:rPr>
                        <a:t>√</a:t>
                      </a:r>
                      <a:endParaRPr lang="en-US" sz="3200">
                        <a:latin typeface="Arial narrow" charset="0"/>
                        <a:cs typeface="Arial narrow" charset="0"/>
                      </a:endParaRPr>
                    </a:p>
                  </a:txBody>
                  <a:tcPr/>
                </a:tc>
                <a:tc>
                  <a:txBody>
                    <a:bodyPr/>
                    <a:p>
                      <a:pPr algn="ctr">
                        <a:buNone/>
                      </a:pPr>
                      <a:r>
                        <a:rPr lang="en-US" sz="3200" b="1">
                          <a:solidFill>
                            <a:srgbClr val="FF0000"/>
                          </a:solidFill>
                          <a:cs typeface="Arial narrow" charset="0"/>
                          <a:sym typeface="+mn-ea"/>
                        </a:rPr>
                        <a:t>×</a:t>
                      </a:r>
                      <a:endParaRPr lang="en-US" sz="3200">
                        <a:latin typeface="Arial narrow" charset="0"/>
                        <a:cs typeface="Arial narrow" charset="0"/>
                      </a:endParaRPr>
                    </a:p>
                  </a:txBody>
                  <a:tcPr/>
                </a:tc>
                <a:tc>
                  <a:txBody>
                    <a:bodyPr/>
                    <a:p>
                      <a:pPr algn="ctr">
                        <a:buNone/>
                      </a:pPr>
                      <a:r>
                        <a:rPr lang="en-US" sz="3600" b="1">
                          <a:solidFill>
                            <a:srgbClr val="FF0000"/>
                          </a:solidFill>
                          <a:cs typeface="Arial narrow" charset="0"/>
                          <a:sym typeface="+mn-ea"/>
                        </a:rPr>
                        <a:t>×</a:t>
                      </a:r>
                      <a:endParaRPr lang="en-US" sz="3600">
                        <a:latin typeface="Arial narrow" charset="0"/>
                        <a:cs typeface="Arial narrow" charset="0"/>
                      </a:endParaRPr>
                    </a:p>
                  </a:txBody>
                  <a:tcPr/>
                </a:tc>
                <a:tc>
                  <a:txBody>
                    <a:bodyPr/>
                    <a:p>
                      <a:pPr>
                        <a:buNone/>
                      </a:pPr>
                      <a:endParaRPr lang="en-US" sz="2000">
                        <a:latin typeface="Arial narrow" charset="0"/>
                        <a:cs typeface="Arial narrow" charset="0"/>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9" name="Google Shape;199;p23"/>
          <p:cNvGrpSpPr/>
          <p:nvPr/>
        </p:nvGrpSpPr>
        <p:grpSpPr>
          <a:xfrm>
            <a:off x="0" y="0"/>
            <a:ext cx="18287640" cy="1706760"/>
            <a:chOff x="0" y="0"/>
            <a:chExt cx="18287640" cy="1706760"/>
          </a:xfrm>
        </p:grpSpPr>
        <p:sp>
          <p:nvSpPr>
            <p:cNvPr id="180" name="Google Shape;200;p23"/>
            <p:cNvSpPr/>
            <p:nvPr/>
          </p:nvSpPr>
          <p:spPr>
            <a:xfrm>
              <a:off x="0" y="201960"/>
              <a:ext cx="18287640" cy="1504800"/>
            </a:xfrm>
            <a:custGeom>
              <a:avLst/>
              <a:gdLst>
                <a:gd name="textAreaLeft" fmla="*/ 0 w 18287640"/>
                <a:gd name="textAreaRight" fmla="*/ 18288000 w 18287640"/>
                <a:gd name="textAreaTop" fmla="*/ 0 h 1504800"/>
                <a:gd name="textAreaBottom" fmla="*/ 1505160 h 1504800"/>
              </a:gdLst>
              <a:ahLst/>
              <a:cxnLst/>
              <a:rect l="textAreaLeft" t="textAreaTop" r="textAreaRight" b="textAreaBottom"/>
              <a:pathLst>
                <a:path w="4816592" h="425650">
                  <a:moveTo>
                    <a:pt x="0" y="0"/>
                  </a:moveTo>
                  <a:lnTo>
                    <a:pt x="4816592" y="0"/>
                  </a:lnTo>
                  <a:lnTo>
                    <a:pt x="4816592" y="425650"/>
                  </a:lnTo>
                  <a:lnTo>
                    <a:pt x="0" y="425650"/>
                  </a:lnTo>
                  <a:close/>
                </a:path>
              </a:pathLst>
            </a:custGeom>
            <a:solidFill>
              <a:srgbClr val="25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81" name="Google Shape;201;p23"/>
            <p:cNvSpPr/>
            <p:nvPr/>
          </p:nvSpPr>
          <p:spPr>
            <a:xfrm>
              <a:off x="0" y="0"/>
              <a:ext cx="18287640" cy="170676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82" name="Google Shape;202;p23"/>
          <p:cNvSpPr/>
          <p:nvPr/>
        </p:nvSpPr>
        <p:spPr>
          <a:xfrm>
            <a:off x="1028880" y="690480"/>
            <a:ext cx="797832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F0F6FC"/>
                </a:solidFill>
                <a:latin typeface="Plus Jakarta Sans ExtraBold"/>
                <a:ea typeface="Plus Jakarta Sans ExtraBold"/>
              </a:rPr>
              <a:t>Revenue Model</a:t>
            </a:r>
            <a:endParaRPr lang="en-US" sz="5600" b="0" strike="noStrike" spc="-1">
              <a:solidFill>
                <a:srgbClr val="000000"/>
              </a:solidFill>
              <a:latin typeface="Arial"/>
            </a:endParaRPr>
          </a:p>
        </p:txBody>
      </p:sp>
      <p:pic>
        <p:nvPicPr>
          <p:cNvPr id="183" name="Google Shape;203;p23"/>
          <p:cNvPicPr/>
          <p:nvPr/>
        </p:nvPicPr>
        <p:blipFill>
          <a:blip r:embed="rId1"/>
          <a:stretch>
            <a:fillRect/>
          </a:stretch>
        </p:blipFill>
        <p:spPr>
          <a:xfrm>
            <a:off x="12076920" y="3641760"/>
            <a:ext cx="3880440" cy="4351680"/>
          </a:xfrm>
          <a:prstGeom prst="rect">
            <a:avLst/>
          </a:prstGeom>
          <a:ln w="0">
            <a:noFill/>
          </a:ln>
        </p:spPr>
      </p:pic>
      <p:sp>
        <p:nvSpPr>
          <p:cNvPr id="2" name="Text Box 1"/>
          <p:cNvSpPr txBox="1"/>
          <p:nvPr/>
        </p:nvSpPr>
        <p:spPr>
          <a:xfrm>
            <a:off x="814705" y="2455545"/>
            <a:ext cx="16537940" cy="2245360"/>
          </a:xfrm>
          <a:prstGeom prst="rect">
            <a:avLst/>
          </a:prstGeom>
          <a:noFill/>
        </p:spPr>
        <p:txBody>
          <a:bodyPr wrap="square" rtlCol="0">
            <a:spAutoFit/>
          </a:bodyPr>
          <a:p>
            <a:r>
              <a:rPr lang="en-US" sz="2000" b="1"/>
              <a:t>Freemium access: </a:t>
            </a:r>
            <a:r>
              <a:rPr lang="en-US" sz="2000"/>
              <a:t>Basic advisory via toll-free line.</a:t>
            </a:r>
            <a:endParaRPr lang="en-US" sz="2000"/>
          </a:p>
          <a:p>
            <a:endParaRPr lang="en-US" sz="2000"/>
          </a:p>
          <a:p>
            <a:r>
              <a:rPr lang="en-US" sz="2000" b="1"/>
              <a:t>Subscription services:</a:t>
            </a:r>
            <a:r>
              <a:rPr lang="en-US" sz="2000"/>
              <a:t> Premium voice content and personalized alerts.</a:t>
            </a:r>
            <a:endParaRPr lang="en-US" sz="2000"/>
          </a:p>
          <a:p>
            <a:endParaRPr lang="en-US" sz="2000"/>
          </a:p>
          <a:p>
            <a:r>
              <a:rPr lang="en-US" sz="2000" b="1"/>
              <a:t>Commission model:</a:t>
            </a:r>
            <a:r>
              <a:rPr lang="en-US" sz="2000"/>
              <a:t> Partnerships with banks &amp; insurers for micro-loans and crop insurance.</a:t>
            </a:r>
            <a:endParaRPr lang="en-US" sz="2000"/>
          </a:p>
          <a:p>
            <a:endParaRPr lang="en-US" sz="2000"/>
          </a:p>
          <a:p>
            <a:r>
              <a:rPr lang="en-US" sz="2000" b="1"/>
              <a:t>Institutional partnerships:</a:t>
            </a:r>
            <a:r>
              <a:rPr lang="en-US" sz="2000"/>
              <a:t> NGOs, government, and agri-programs fund access for target groups.</a:t>
            </a:r>
            <a:endParaRPr lang="en-US" sz="2000"/>
          </a:p>
        </p:txBody>
      </p:sp>
      <p:graphicFrame>
        <p:nvGraphicFramePr>
          <p:cNvPr id="3" name="Table 2"/>
          <p:cNvGraphicFramePr/>
          <p:nvPr/>
        </p:nvGraphicFramePr>
        <p:xfrm>
          <a:off x="814705" y="5540375"/>
          <a:ext cx="15323820" cy="3203575"/>
        </p:xfrm>
        <a:graphic>
          <a:graphicData uri="http://schemas.openxmlformats.org/drawingml/2006/table">
            <a:tbl>
              <a:tblPr firstRow="1" bandRow="1">
                <a:tableStyleId>{5C22544A-7EE6-4342-B048-85BDC9FD1C3A}</a:tableStyleId>
              </a:tblPr>
              <a:tblGrid>
                <a:gridCol w="5107940"/>
                <a:gridCol w="5107940"/>
                <a:gridCol w="5107940"/>
              </a:tblGrid>
              <a:tr h="640715">
                <a:tc>
                  <a:txBody>
                    <a:bodyPr/>
                    <a:p>
                      <a:pPr>
                        <a:buNone/>
                      </a:pPr>
                      <a:r>
                        <a:rPr lang="en-US" sz="2000"/>
                        <a:t>Revenue Stream</a:t>
                      </a:r>
                      <a:endParaRPr lang="en-US" sz="2000"/>
                    </a:p>
                  </a:txBody>
                  <a:tcPr/>
                </a:tc>
                <a:tc>
                  <a:txBody>
                    <a:bodyPr/>
                    <a:p>
                      <a:pPr>
                        <a:buNone/>
                      </a:pPr>
                      <a:r>
                        <a:rPr lang="en-US" sz="2000"/>
                        <a:t>Description</a:t>
                      </a:r>
                      <a:endParaRPr lang="en-US" sz="2000"/>
                    </a:p>
                  </a:txBody>
                  <a:tcPr/>
                </a:tc>
                <a:tc>
                  <a:txBody>
                    <a:bodyPr/>
                    <a:p>
                      <a:pPr>
                        <a:buNone/>
                      </a:pPr>
                      <a:r>
                        <a:rPr lang="en-US" sz="2000"/>
                        <a:t>Example/Pricing</a:t>
                      </a:r>
                      <a:endParaRPr lang="en-US" sz="2000"/>
                    </a:p>
                  </a:txBody>
                  <a:tcPr/>
                </a:tc>
              </a:tr>
              <a:tr h="640715">
                <a:tc>
                  <a:txBody>
                    <a:bodyPr/>
                    <a:p>
                      <a:pPr>
                        <a:buNone/>
                      </a:pPr>
                      <a:r>
                        <a:rPr lang="en-US" sz="2000"/>
                        <a:t>B2C</a:t>
                      </a:r>
                      <a:endParaRPr lang="en-US" sz="2000"/>
                    </a:p>
                    <a:p>
                      <a:pPr>
                        <a:buNone/>
                      </a:pPr>
                      <a:r>
                        <a:rPr lang="en-US" sz="2000"/>
                        <a:t>Subscription</a:t>
                      </a:r>
                      <a:endParaRPr lang="en-US" sz="2000"/>
                    </a:p>
                  </a:txBody>
                  <a:tcPr/>
                </a:tc>
                <a:tc>
                  <a:txBody>
                    <a:bodyPr/>
                    <a:p>
                      <a:pPr>
                        <a:buNone/>
                      </a:pPr>
                      <a:r>
                        <a:rPr lang="en-US" sz="2000"/>
                        <a:t>Premium user fees for advanced</a:t>
                      </a:r>
                      <a:endParaRPr lang="en-US" sz="2000"/>
                    </a:p>
                    <a:p>
                      <a:pPr>
                        <a:buNone/>
                      </a:pPr>
                      <a:r>
                        <a:rPr lang="en-US" sz="2000"/>
                        <a:t>features.</a:t>
                      </a:r>
                      <a:endParaRPr lang="en-US" sz="2000"/>
                    </a:p>
                  </a:txBody>
                  <a:tcPr/>
                </a:tc>
                <a:tc>
                  <a:txBody>
                    <a:bodyPr/>
                    <a:p>
                      <a:pPr>
                        <a:buNone/>
                      </a:pPr>
                      <a:r>
                        <a:rPr lang="en-US" sz="2000"/>
                        <a:t>ZMW 5-10 per month</a:t>
                      </a:r>
                      <a:endParaRPr lang="en-US" sz="2000"/>
                    </a:p>
                  </a:txBody>
                  <a:tcPr/>
                </a:tc>
              </a:tr>
              <a:tr h="640715">
                <a:tc>
                  <a:txBody>
                    <a:bodyPr/>
                    <a:p>
                      <a:pPr>
                        <a:buNone/>
                      </a:pPr>
                      <a:r>
                        <a:rPr lang="en-US" sz="2000"/>
                        <a:t>B2B</a:t>
                      </a:r>
                      <a:endParaRPr lang="en-US" sz="2000"/>
                    </a:p>
                    <a:p>
                      <a:pPr>
                        <a:buNone/>
                      </a:pPr>
                      <a:r>
                        <a:rPr lang="en-US" sz="2000"/>
                        <a:t>Commission</a:t>
                      </a:r>
                      <a:endParaRPr lang="en-US" sz="2000"/>
                    </a:p>
                  </a:txBody>
                  <a:tcPr/>
                </a:tc>
                <a:tc>
                  <a:txBody>
                    <a:bodyPr/>
                    <a:p>
                      <a:pPr>
                        <a:buNone/>
                      </a:pPr>
                      <a:r>
                        <a:rPr lang="en-US" sz="2000"/>
                        <a:t>Fees from insurance &amp; loan</a:t>
                      </a:r>
                      <a:endParaRPr lang="en-US" sz="2000"/>
                    </a:p>
                    <a:p>
                      <a:pPr>
                        <a:buNone/>
                      </a:pPr>
                      <a:r>
                        <a:rPr lang="en-US" sz="2000"/>
                        <a:t>facilitation.</a:t>
                      </a:r>
                      <a:endParaRPr lang="en-US" sz="2000"/>
                    </a:p>
                  </a:txBody>
                  <a:tcPr/>
                </a:tc>
                <a:tc>
                  <a:txBody>
                    <a:bodyPr/>
                    <a:p>
                      <a:pPr>
                        <a:buNone/>
                      </a:pPr>
                      <a:r>
                        <a:rPr lang="en-US" sz="2000"/>
                        <a:t>10% commission per</a:t>
                      </a:r>
                      <a:endParaRPr lang="en-US" sz="2000"/>
                    </a:p>
                    <a:p>
                      <a:pPr>
                        <a:buNone/>
                      </a:pPr>
                      <a:r>
                        <a:rPr lang="en-US" sz="2000"/>
                        <a:t>insurance policy</a:t>
                      </a:r>
                      <a:endParaRPr lang="en-US" sz="2000"/>
                    </a:p>
                  </a:txBody>
                  <a:tcPr/>
                </a:tc>
              </a:tr>
              <a:tr h="640715">
                <a:tc>
                  <a:txBody>
                    <a:bodyPr/>
                    <a:p>
                      <a:pPr>
                        <a:buNone/>
                      </a:pPr>
                      <a:r>
                        <a:rPr lang="en-US" sz="2000"/>
                        <a:t>B2B Referral</a:t>
                      </a:r>
                      <a:endParaRPr lang="en-US" sz="2000"/>
                    </a:p>
                    <a:p>
                      <a:pPr>
                        <a:buNone/>
                      </a:pPr>
                      <a:r>
                        <a:rPr lang="en-US" sz="2000"/>
                        <a:t>Fees</a:t>
                      </a:r>
                      <a:endParaRPr lang="en-US" sz="2000"/>
                    </a:p>
                  </a:txBody>
                  <a:tcPr/>
                </a:tc>
                <a:tc>
                  <a:txBody>
                    <a:bodyPr/>
                    <a:p>
                      <a:pPr>
                        <a:buNone/>
                      </a:pPr>
                      <a:r>
                        <a:rPr lang="en-US" sz="2000"/>
                        <a:t>Fees for connecting</a:t>
                      </a:r>
                      <a:endParaRPr lang="en-US" sz="2000"/>
                    </a:p>
                    <a:p>
                      <a:pPr>
                        <a:buNone/>
                      </a:pPr>
                      <a:r>
                        <a:rPr lang="en-US" sz="2000"/>
                        <a:t>suppliers/buyers to farmers.</a:t>
                      </a:r>
                      <a:endParaRPr lang="en-US" sz="2000"/>
                    </a:p>
                  </a:txBody>
                  <a:tcPr/>
                </a:tc>
                <a:tc>
                  <a:txBody>
                    <a:bodyPr/>
                    <a:p>
                      <a:pPr>
                        <a:buNone/>
                      </a:pPr>
                      <a:r>
                        <a:rPr lang="en-US" sz="2000"/>
                        <a:t>ZMW 10-20 per successful</a:t>
                      </a:r>
                      <a:endParaRPr lang="en-US" sz="2000"/>
                    </a:p>
                    <a:p>
                      <a:pPr>
                        <a:buNone/>
                      </a:pPr>
                      <a:r>
                        <a:rPr lang="en-US" sz="2000"/>
                        <a:t>lead</a:t>
                      </a:r>
                      <a:endParaRPr lang="en-US" sz="2000"/>
                    </a:p>
                  </a:txBody>
                  <a:tcPr/>
                </a:tc>
              </a:tr>
              <a:tr h="640715">
                <a:tc>
                  <a:txBody>
                    <a:bodyPr/>
                    <a:p>
                      <a:pPr>
                        <a:buNone/>
                      </a:pPr>
                      <a:r>
                        <a:rPr lang="en-US" sz="2000"/>
                        <a:t>Platform</a:t>
                      </a:r>
                      <a:endParaRPr lang="en-US" sz="2000"/>
                    </a:p>
                    <a:p>
                      <a:pPr>
                        <a:buNone/>
                      </a:pPr>
                      <a:r>
                        <a:rPr lang="en-US" sz="2000"/>
                        <a:t>Licensing</a:t>
                      </a:r>
                      <a:endParaRPr lang="en-US" sz="2000"/>
                    </a:p>
                  </a:txBody>
                  <a:tcPr/>
                </a:tc>
                <a:tc>
                  <a:txBody>
                    <a:bodyPr/>
                    <a:p>
                      <a:pPr>
                        <a:buNone/>
                      </a:pPr>
                      <a:r>
                        <a:rPr lang="en-US" sz="2000"/>
                        <a:t>Fees from NGOs/Gov't using our</a:t>
                      </a:r>
                      <a:endParaRPr lang="en-US" sz="2000"/>
                    </a:p>
                    <a:p>
                      <a:pPr>
                        <a:buNone/>
                      </a:pPr>
                      <a:r>
                        <a:rPr lang="en-US" sz="2000"/>
                        <a:t>platform.</a:t>
                      </a:r>
                      <a:endParaRPr lang="en-US" sz="2000"/>
                    </a:p>
                  </a:txBody>
                  <a:tcPr/>
                </a:tc>
                <a:tc>
                  <a:txBody>
                    <a:bodyPr/>
                    <a:p>
                      <a:pPr>
                        <a:buNone/>
                      </a:pPr>
                      <a:r>
                        <a:rPr lang="en-US" sz="2000"/>
                        <a:t>ZMW 15,000 per month per</a:t>
                      </a:r>
                      <a:endParaRPr lang="en-US" sz="2000"/>
                    </a:p>
                    <a:p>
                      <a:pPr>
                        <a:buNone/>
                      </a:pPr>
                      <a:r>
                        <a:rPr lang="en-US" sz="2000"/>
                        <a:t>project</a:t>
                      </a:r>
                      <a:endParaRPr lang="en-US" sz="200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 name="Google Shape;208;p24"/>
          <p:cNvGrpSpPr/>
          <p:nvPr/>
        </p:nvGrpSpPr>
        <p:grpSpPr>
          <a:xfrm>
            <a:off x="0" y="0"/>
            <a:ext cx="18287640" cy="1571760"/>
            <a:chOff x="0" y="0"/>
            <a:chExt cx="18287640" cy="1571760"/>
          </a:xfrm>
        </p:grpSpPr>
        <p:sp>
          <p:nvSpPr>
            <p:cNvPr id="185" name="Google Shape;209;p24"/>
            <p:cNvSpPr/>
            <p:nvPr/>
          </p:nvSpPr>
          <p:spPr>
            <a:xfrm>
              <a:off x="0" y="199080"/>
              <a:ext cx="18287640" cy="1372680"/>
            </a:xfrm>
            <a:custGeom>
              <a:avLst/>
              <a:gdLst>
                <a:gd name="textAreaLeft" fmla="*/ 0 w 18287640"/>
                <a:gd name="textAreaRight" fmla="*/ 18288000 w 18287640"/>
                <a:gd name="textAreaTop" fmla="*/ 0 h 1372680"/>
                <a:gd name="textAreaBottom" fmla="*/ 1373040 h 1372680"/>
              </a:gdLst>
              <a:ahLst/>
              <a:cxnLst/>
              <a:rect l="textAreaLeft" t="textAreaTop" r="textAreaRight" b="textAreaBottom"/>
              <a:pathLst>
                <a:path w="4816592" h="393857">
                  <a:moveTo>
                    <a:pt x="0" y="0"/>
                  </a:moveTo>
                  <a:lnTo>
                    <a:pt x="4816592" y="0"/>
                  </a:lnTo>
                  <a:lnTo>
                    <a:pt x="4816592" y="393857"/>
                  </a:lnTo>
                  <a:lnTo>
                    <a:pt x="0" y="393857"/>
                  </a:lnTo>
                  <a:close/>
                </a:path>
              </a:pathLst>
            </a:custGeom>
            <a:solidFill>
              <a:srgbClr val="25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86" name="Google Shape;210;p24"/>
            <p:cNvSpPr/>
            <p:nvPr/>
          </p:nvSpPr>
          <p:spPr>
            <a:xfrm>
              <a:off x="0" y="0"/>
              <a:ext cx="18287280" cy="157140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87" name="Google Shape;211;p24"/>
          <p:cNvSpPr/>
          <p:nvPr/>
        </p:nvSpPr>
        <p:spPr>
          <a:xfrm>
            <a:off x="1074600" y="528840"/>
            <a:ext cx="814752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chemeClr val="lt1"/>
                </a:solidFill>
                <a:latin typeface="Plus Jakarta Sans ExtraBold"/>
                <a:ea typeface="Plus Jakarta Sans ExtraBold"/>
              </a:rPr>
              <a:t>The Team (Optional)</a:t>
            </a:r>
            <a:endParaRPr lang="en-US" sz="5600" b="0" strike="noStrike" spc="-1">
              <a:solidFill>
                <a:srgbClr val="000000"/>
              </a:solidFill>
              <a:latin typeface="Arial"/>
            </a:endParaRPr>
          </a:p>
        </p:txBody>
      </p:sp>
      <p:grpSp>
        <p:nvGrpSpPr>
          <p:cNvPr id="249" name="Google Shape;249;g337e5a30c67_1_5"/>
          <p:cNvGrpSpPr/>
          <p:nvPr/>
        </p:nvGrpSpPr>
        <p:grpSpPr>
          <a:xfrm>
            <a:off x="7052290" y="4058267"/>
            <a:ext cx="3877483" cy="1383255"/>
            <a:chOff x="-489688" y="7232802"/>
            <a:chExt cx="5574300" cy="1970729"/>
          </a:xfrm>
        </p:grpSpPr>
        <p:sp>
          <p:nvSpPr>
            <p:cNvPr id="251" name="Google Shape;251;g337e5a30c67_1_5"/>
            <p:cNvSpPr txBox="1"/>
            <p:nvPr/>
          </p:nvSpPr>
          <p:spPr>
            <a:xfrm>
              <a:off x="458126" y="7232802"/>
              <a:ext cx="4118400" cy="613378"/>
            </a:xfrm>
            <a:prstGeom prst="rect">
              <a:avLst/>
            </a:prstGeom>
            <a:noFill/>
            <a:ln>
              <a:noFill/>
            </a:ln>
          </p:spPr>
          <p:txBody>
            <a:bodyPr spcFirstLastPara="1" wrap="square" lIns="0" tIns="0" rIns="0" bIns="0" anchor="t" anchorCtr="0">
              <a:spAutoFit/>
            </a:bodyPr>
            <a:p>
              <a:pPr marL="0" marR="0" lvl="0" indent="0" algn="ctr" rtl="0">
                <a:lnSpc>
                  <a:spcPct val="140000"/>
                </a:lnSpc>
                <a:spcBef>
                  <a:spcPts val="0"/>
                </a:spcBef>
                <a:spcAft>
                  <a:spcPts val="0"/>
                </a:spcAft>
                <a:buClr>
                  <a:srgbClr val="000000"/>
                </a:buClr>
                <a:buSzPts val="2100"/>
                <a:buFont typeface="Arial"/>
                <a:buNone/>
              </a:pPr>
              <a:r>
                <a:rPr lang="en-US" sz="2000" i="0" u="none" strike="noStrike" cap="none">
                  <a:solidFill>
                    <a:srgbClr val="0A547A"/>
                  </a:solidFill>
                  <a:latin typeface="Plus Jakarta Sans Medium"/>
                  <a:ea typeface="Plus Jakarta Sans Medium"/>
                  <a:cs typeface="Plus Jakarta Sans Medium"/>
                  <a:sym typeface="Plus Jakarta Sans Medium"/>
                </a:rPr>
                <a:t>Erec Sakala</a:t>
              </a:r>
              <a:endParaRPr lang="en-US" sz="2000" i="0" u="none" strike="noStrike" cap="none">
                <a:solidFill>
                  <a:srgbClr val="0A547A"/>
                </a:solidFill>
                <a:latin typeface="Plus Jakarta Sans Medium"/>
                <a:ea typeface="Plus Jakarta Sans Medium"/>
                <a:cs typeface="Plus Jakarta Sans Medium"/>
                <a:sym typeface="Plus Jakarta Sans Medium"/>
              </a:endParaRPr>
            </a:p>
          </p:txBody>
        </p:sp>
        <p:sp>
          <p:nvSpPr>
            <p:cNvPr id="252" name="Google Shape;252;g337e5a30c67_1_5"/>
            <p:cNvSpPr txBox="1"/>
            <p:nvPr/>
          </p:nvSpPr>
          <p:spPr>
            <a:xfrm>
              <a:off x="-489688" y="8354831"/>
              <a:ext cx="5574300" cy="848700"/>
            </a:xfrm>
            <a:prstGeom prst="rect">
              <a:avLst/>
            </a:prstGeom>
            <a:noFill/>
            <a:ln>
              <a:noFill/>
            </a:ln>
          </p:spPr>
          <p:txBody>
            <a:bodyPr spcFirstLastPara="1" wrap="square" lIns="0" tIns="0" rIns="0" bIns="0" anchor="t" anchorCtr="0">
              <a:spAutoFit/>
            </a:bodyPr>
            <a:p>
              <a:pPr marL="0" marR="0" lvl="0" indent="0" algn="ctr" rtl="0">
                <a:lnSpc>
                  <a:spcPct val="115000"/>
                </a:lnSpc>
                <a:spcBef>
                  <a:spcPts val="0"/>
                </a:spcBef>
                <a:spcAft>
                  <a:spcPts val="0"/>
                </a:spcAft>
                <a:buClr>
                  <a:srgbClr val="000000"/>
                </a:buClr>
                <a:buSzPts val="2199"/>
                <a:buFont typeface="Arial"/>
                <a:buNone/>
              </a:pPr>
              <a:r>
                <a:rPr lang="en-US" sz="1800">
                  <a:solidFill>
                    <a:srgbClr val="143642"/>
                  </a:solidFill>
                  <a:latin typeface="Plus Jakarta Sans"/>
                  <a:ea typeface="Plus Jakarta Sans"/>
                  <a:cs typeface="Plus Jakarta Sans"/>
                  <a:sym typeface="Plus Jakarta Sans"/>
                </a:rPr>
                <a:t>Chief Technology Officer</a:t>
              </a:r>
              <a:endParaRPr sz="1800">
                <a:solidFill>
                  <a:srgbClr val="143642"/>
                </a:solidFill>
                <a:latin typeface="Plus Jakarta Sans"/>
                <a:ea typeface="Plus Jakarta Sans"/>
                <a:cs typeface="Plus Jakarta Sans"/>
                <a:sym typeface="Plus Jakarta Sans"/>
              </a:endParaRPr>
            </a:p>
            <a:p>
              <a:pPr marL="0" marR="0" lvl="0" indent="0" algn="ctr" rtl="0">
                <a:lnSpc>
                  <a:spcPct val="115000"/>
                </a:lnSpc>
                <a:spcBef>
                  <a:spcPts val="0"/>
                </a:spcBef>
                <a:spcAft>
                  <a:spcPts val="0"/>
                </a:spcAft>
                <a:buClr>
                  <a:srgbClr val="000000"/>
                </a:buClr>
                <a:buSzPts val="2199"/>
                <a:buFont typeface="Arial"/>
                <a:buNone/>
              </a:pPr>
              <a:r>
                <a:rPr lang="en-US" sz="1800">
                  <a:solidFill>
                    <a:srgbClr val="143642"/>
                  </a:solidFill>
                  <a:latin typeface="Plus Jakarta Sans"/>
                  <a:ea typeface="Plus Jakarta Sans"/>
                  <a:cs typeface="Plus Jakarta Sans"/>
                  <a:sym typeface="Plus Jakarta Sans"/>
                </a:rPr>
                <a:t>Co Founder</a:t>
              </a:r>
              <a:endParaRPr sz="1800">
                <a:solidFill>
                  <a:srgbClr val="143642"/>
                </a:solidFill>
                <a:latin typeface="Plus Jakarta Sans"/>
                <a:ea typeface="Plus Jakarta Sans"/>
                <a:cs typeface="Plus Jakarta Sans"/>
                <a:sym typeface="Plus Jakarta Sans"/>
              </a:endParaRPr>
            </a:p>
          </p:txBody>
        </p:sp>
      </p:grpSp>
      <p:grpSp>
        <p:nvGrpSpPr>
          <p:cNvPr id="255" name="Google Shape;255;g337e5a30c67_1_5"/>
          <p:cNvGrpSpPr/>
          <p:nvPr/>
        </p:nvGrpSpPr>
        <p:grpSpPr>
          <a:xfrm>
            <a:off x="1596241" y="4010382"/>
            <a:ext cx="4013125" cy="1443578"/>
            <a:chOff x="-167480" y="6538580"/>
            <a:chExt cx="5769300" cy="2056672"/>
          </a:xfrm>
        </p:grpSpPr>
        <p:sp>
          <p:nvSpPr>
            <p:cNvPr id="257" name="Google Shape;257;g337e5a30c67_1_5"/>
            <p:cNvSpPr txBox="1"/>
            <p:nvPr/>
          </p:nvSpPr>
          <p:spPr>
            <a:xfrm>
              <a:off x="658448" y="6538580"/>
              <a:ext cx="4118400" cy="613378"/>
            </a:xfrm>
            <a:prstGeom prst="rect">
              <a:avLst/>
            </a:prstGeom>
            <a:noFill/>
            <a:ln>
              <a:noFill/>
            </a:ln>
          </p:spPr>
          <p:txBody>
            <a:bodyPr spcFirstLastPara="1" wrap="square" lIns="0" tIns="0" rIns="0" bIns="0" anchor="t" anchorCtr="0">
              <a:spAutoFit/>
            </a:bodyPr>
            <a:p>
              <a:pPr marL="0" marR="0" lvl="0" indent="0" algn="ctr" rtl="0">
                <a:lnSpc>
                  <a:spcPct val="140000"/>
                </a:lnSpc>
                <a:spcBef>
                  <a:spcPts val="0"/>
                </a:spcBef>
                <a:spcAft>
                  <a:spcPts val="0"/>
                </a:spcAft>
                <a:buClr>
                  <a:srgbClr val="000000"/>
                </a:buClr>
                <a:buSzPts val="2100"/>
                <a:buFont typeface="Arial"/>
                <a:buNone/>
              </a:pPr>
              <a:r>
                <a:rPr lang="en-US" sz="2000" i="0" u="none" strike="noStrike" cap="none">
                  <a:solidFill>
                    <a:srgbClr val="0A547A"/>
                  </a:solidFill>
                  <a:latin typeface="Plus Jakarta Sans Medium"/>
                  <a:ea typeface="Plus Jakarta Sans Medium"/>
                  <a:cs typeface="Plus Jakarta Sans Medium"/>
                  <a:sym typeface="Plus Jakarta Sans Medium"/>
                </a:rPr>
                <a:t>Chalwe Silas</a:t>
              </a:r>
              <a:endParaRPr lang="en-US" sz="2000" i="0" u="none" strike="noStrike" cap="none">
                <a:solidFill>
                  <a:srgbClr val="0A547A"/>
                </a:solidFill>
                <a:latin typeface="Plus Jakarta Sans Medium"/>
                <a:ea typeface="Plus Jakarta Sans Medium"/>
                <a:cs typeface="Plus Jakarta Sans Medium"/>
                <a:sym typeface="Plus Jakarta Sans Medium"/>
              </a:endParaRPr>
            </a:p>
          </p:txBody>
        </p:sp>
        <p:sp>
          <p:nvSpPr>
            <p:cNvPr id="258" name="Google Shape;258;g337e5a30c67_1_5"/>
            <p:cNvSpPr txBox="1"/>
            <p:nvPr/>
          </p:nvSpPr>
          <p:spPr>
            <a:xfrm>
              <a:off x="-167480" y="7746552"/>
              <a:ext cx="5769300" cy="848700"/>
            </a:xfrm>
            <a:prstGeom prst="rect">
              <a:avLst/>
            </a:prstGeom>
            <a:noFill/>
            <a:ln>
              <a:noFill/>
            </a:ln>
          </p:spPr>
          <p:txBody>
            <a:bodyPr spcFirstLastPara="1" wrap="square" lIns="0" tIns="0" rIns="0" bIns="0" anchor="t" anchorCtr="0">
              <a:spAutoFit/>
            </a:bodyPr>
            <a:p>
              <a:pPr marL="0" marR="0" lvl="0" indent="0" algn="ctr" rtl="0">
                <a:lnSpc>
                  <a:spcPct val="115000"/>
                </a:lnSpc>
                <a:spcBef>
                  <a:spcPts val="0"/>
                </a:spcBef>
                <a:spcAft>
                  <a:spcPts val="0"/>
                </a:spcAft>
                <a:buClr>
                  <a:srgbClr val="000000"/>
                </a:buClr>
                <a:buSzPts val="2199"/>
                <a:buFont typeface="Arial"/>
                <a:buNone/>
              </a:pPr>
              <a:r>
                <a:rPr lang="en-US" sz="1800">
                  <a:solidFill>
                    <a:srgbClr val="143642"/>
                  </a:solidFill>
                  <a:latin typeface="Plus Jakarta Sans"/>
                  <a:ea typeface="Plus Jakarta Sans"/>
                  <a:cs typeface="Plus Jakarta Sans"/>
                  <a:sym typeface="Plus Jakarta Sans"/>
                </a:rPr>
                <a:t>Chief Executive Officer</a:t>
              </a:r>
              <a:endParaRPr sz="1800">
                <a:solidFill>
                  <a:srgbClr val="143642"/>
                </a:solidFill>
                <a:latin typeface="Plus Jakarta Sans"/>
                <a:ea typeface="Plus Jakarta Sans"/>
                <a:cs typeface="Plus Jakarta Sans"/>
                <a:sym typeface="Plus Jakarta Sans"/>
              </a:endParaRPr>
            </a:p>
            <a:p>
              <a:pPr marL="0" marR="0" lvl="0" indent="0" algn="ctr" rtl="0">
                <a:lnSpc>
                  <a:spcPct val="115000"/>
                </a:lnSpc>
                <a:spcBef>
                  <a:spcPts val="0"/>
                </a:spcBef>
                <a:spcAft>
                  <a:spcPts val="0"/>
                </a:spcAft>
                <a:buClr>
                  <a:srgbClr val="000000"/>
                </a:buClr>
                <a:buSzPts val="2199"/>
                <a:buFont typeface="Arial"/>
                <a:buNone/>
              </a:pPr>
              <a:r>
                <a:rPr lang="en-US" sz="1800">
                  <a:solidFill>
                    <a:srgbClr val="143642"/>
                  </a:solidFill>
                  <a:latin typeface="Plus Jakarta Sans"/>
                  <a:ea typeface="Plus Jakarta Sans"/>
                  <a:cs typeface="Plus Jakarta Sans"/>
                  <a:sym typeface="Plus Jakarta Sans"/>
                </a:rPr>
                <a:t>Co Founder</a:t>
              </a:r>
              <a:endParaRPr sz="1800">
                <a:solidFill>
                  <a:srgbClr val="143642"/>
                </a:solidFill>
                <a:latin typeface="Plus Jakarta Sans"/>
                <a:ea typeface="Plus Jakarta Sans"/>
                <a:cs typeface="Plus Jakarta Sans"/>
                <a:sym typeface="Plus Jakarta Sans"/>
              </a:endParaRPr>
            </a:p>
          </p:txBody>
        </p:sp>
      </p:grpSp>
      <p:grpSp>
        <p:nvGrpSpPr>
          <p:cNvPr id="259" name="Google Shape;259;g337e5a30c67_1_5"/>
          <p:cNvGrpSpPr/>
          <p:nvPr/>
        </p:nvGrpSpPr>
        <p:grpSpPr>
          <a:xfrm>
            <a:off x="2171064" y="7978167"/>
            <a:ext cx="3143352" cy="934338"/>
            <a:chOff x="658448" y="7232802"/>
            <a:chExt cx="4518907" cy="1331155"/>
          </a:xfrm>
        </p:grpSpPr>
        <p:sp>
          <p:nvSpPr>
            <p:cNvPr id="261" name="Google Shape;261;g337e5a30c67_1_5"/>
            <p:cNvSpPr txBox="1"/>
            <p:nvPr/>
          </p:nvSpPr>
          <p:spPr>
            <a:xfrm>
              <a:off x="658448" y="7232802"/>
              <a:ext cx="4118400" cy="613378"/>
            </a:xfrm>
            <a:prstGeom prst="rect">
              <a:avLst/>
            </a:prstGeom>
            <a:noFill/>
            <a:ln>
              <a:noFill/>
            </a:ln>
          </p:spPr>
          <p:txBody>
            <a:bodyPr spcFirstLastPara="1" wrap="square" lIns="0" tIns="0" rIns="0" bIns="0" anchor="t" anchorCtr="0">
              <a:spAutoFit/>
            </a:bodyPr>
            <a:p>
              <a:pPr marL="0" marR="0" lvl="0" indent="0" algn="ctr" rtl="0">
                <a:lnSpc>
                  <a:spcPct val="140000"/>
                </a:lnSpc>
                <a:spcBef>
                  <a:spcPts val="0"/>
                </a:spcBef>
                <a:spcAft>
                  <a:spcPts val="0"/>
                </a:spcAft>
                <a:buClr>
                  <a:srgbClr val="000000"/>
                </a:buClr>
                <a:buSzPts val="2100"/>
                <a:buFont typeface="Arial"/>
                <a:buNone/>
              </a:pPr>
              <a:r>
                <a:rPr sz="2000" i="0" u="none" strike="noStrike" cap="none">
                  <a:solidFill>
                    <a:srgbClr val="0A547A"/>
                  </a:solidFill>
                  <a:latin typeface="Plus Jakarta Sans SemiBold"/>
                  <a:ea typeface="Plus Jakarta Sans SemiBold"/>
                  <a:cs typeface="Plus Jakarta Sans SemiBold"/>
                  <a:sym typeface="Plus Jakarta Sans SemiBold"/>
                </a:rPr>
                <a:t>Mubala  Mawere</a:t>
              </a:r>
              <a:endParaRPr sz="2000" i="0" u="none" strike="noStrike" cap="none">
                <a:solidFill>
                  <a:srgbClr val="0A547A"/>
                </a:solidFill>
                <a:latin typeface="Plus Jakarta Sans SemiBold"/>
                <a:ea typeface="Plus Jakarta Sans SemiBold"/>
                <a:cs typeface="Plus Jakarta Sans SemiBold"/>
                <a:sym typeface="Plus Jakarta Sans SemiBold"/>
              </a:endParaRPr>
            </a:p>
          </p:txBody>
        </p:sp>
        <p:sp>
          <p:nvSpPr>
            <p:cNvPr id="262" name="Google Shape;262;g337e5a30c67_1_5"/>
            <p:cNvSpPr txBox="1"/>
            <p:nvPr/>
          </p:nvSpPr>
          <p:spPr>
            <a:xfrm>
              <a:off x="658455" y="8169157"/>
              <a:ext cx="4518900" cy="394800"/>
            </a:xfrm>
            <a:prstGeom prst="rect">
              <a:avLst/>
            </a:prstGeom>
            <a:noFill/>
            <a:ln>
              <a:noFill/>
            </a:ln>
          </p:spPr>
          <p:txBody>
            <a:bodyPr spcFirstLastPara="1" wrap="square" lIns="0" tIns="0" rIns="0" bIns="0" anchor="t" anchorCtr="0">
              <a:spAutoFit/>
            </a:bodyPr>
            <a:p>
              <a:pPr marL="0" marR="0" lvl="0" indent="0" algn="ctr" rtl="0">
                <a:lnSpc>
                  <a:spcPct val="115000"/>
                </a:lnSpc>
                <a:spcBef>
                  <a:spcPts val="0"/>
                </a:spcBef>
                <a:spcAft>
                  <a:spcPts val="0"/>
                </a:spcAft>
                <a:buClr>
                  <a:srgbClr val="000000"/>
                </a:buClr>
                <a:buSzPts val="2199"/>
                <a:buFont typeface="Arial"/>
                <a:buNone/>
              </a:pPr>
              <a:r>
                <a:rPr lang="en-US" sz="1800">
                  <a:solidFill>
                    <a:srgbClr val="143642"/>
                  </a:solidFill>
                  <a:latin typeface="Plus Jakarta Sans"/>
                  <a:ea typeface="Plus Jakarta Sans"/>
                  <a:cs typeface="Plus Jakarta Sans"/>
                  <a:sym typeface="Plus Jakarta Sans"/>
                </a:rPr>
                <a:t>Founding Software Engineer</a:t>
              </a:r>
              <a:endParaRPr sz="1800" i="0" u="none" strike="noStrike" cap="none">
                <a:solidFill>
                  <a:srgbClr val="143642"/>
                </a:solidFill>
                <a:latin typeface="Plus Jakarta Sans"/>
                <a:ea typeface="Plus Jakarta Sans"/>
                <a:cs typeface="Plus Jakarta Sans"/>
                <a:sym typeface="Plus Jakarta Sans"/>
              </a:endParaRPr>
            </a:p>
          </p:txBody>
        </p:sp>
      </p:grpSp>
      <p:grpSp>
        <p:nvGrpSpPr>
          <p:cNvPr id="267" name="Google Shape;267;g337e5a30c67_1_5"/>
          <p:cNvGrpSpPr/>
          <p:nvPr/>
        </p:nvGrpSpPr>
        <p:grpSpPr>
          <a:xfrm>
            <a:off x="12742309" y="7841099"/>
            <a:ext cx="4013125" cy="1230713"/>
            <a:chOff x="-166746" y="7232802"/>
            <a:chExt cx="5769300" cy="1753403"/>
          </a:xfrm>
        </p:grpSpPr>
        <p:sp>
          <p:nvSpPr>
            <p:cNvPr id="269" name="Google Shape;269;g337e5a30c67_1_5"/>
            <p:cNvSpPr txBox="1"/>
            <p:nvPr/>
          </p:nvSpPr>
          <p:spPr>
            <a:xfrm>
              <a:off x="658448" y="7232802"/>
              <a:ext cx="4118400" cy="613378"/>
            </a:xfrm>
            <a:prstGeom prst="rect">
              <a:avLst/>
            </a:prstGeom>
            <a:noFill/>
            <a:ln>
              <a:noFill/>
            </a:ln>
          </p:spPr>
          <p:txBody>
            <a:bodyPr spcFirstLastPara="1" wrap="square" lIns="0" tIns="0" rIns="0" bIns="0" anchor="t" anchorCtr="0">
              <a:spAutoFit/>
            </a:bodyPr>
            <a:p>
              <a:pPr marL="0" marR="0" lvl="0" indent="0" algn="ctr" rtl="0">
                <a:lnSpc>
                  <a:spcPct val="140000"/>
                </a:lnSpc>
                <a:spcBef>
                  <a:spcPts val="0"/>
                </a:spcBef>
                <a:spcAft>
                  <a:spcPts val="0"/>
                </a:spcAft>
                <a:buClr>
                  <a:srgbClr val="000000"/>
                </a:buClr>
                <a:buSzPts val="2100"/>
                <a:buFont typeface="Arial"/>
                <a:buNone/>
              </a:pPr>
              <a:r>
                <a:rPr lang="en-US" sz="2000" i="0" u="none" strike="noStrike" cap="none">
                  <a:solidFill>
                    <a:srgbClr val="0A547A"/>
                  </a:solidFill>
                  <a:latin typeface="Plus Jakarta Sans Medium"/>
                  <a:ea typeface="Plus Jakarta Sans Medium"/>
                  <a:cs typeface="Plus Jakarta Sans Medium"/>
                  <a:sym typeface="Plus Jakarta Sans Medium"/>
                </a:rPr>
                <a:t>Vincent Chiyana</a:t>
              </a:r>
              <a:endParaRPr lang="en-US" sz="2000" i="0" u="none" strike="noStrike" cap="none">
                <a:solidFill>
                  <a:srgbClr val="0A547A"/>
                </a:solidFill>
                <a:latin typeface="Plus Jakarta Sans Medium"/>
                <a:ea typeface="Plus Jakarta Sans Medium"/>
                <a:cs typeface="Plus Jakarta Sans Medium"/>
                <a:sym typeface="Plus Jakarta Sans Medium"/>
              </a:endParaRPr>
            </a:p>
          </p:txBody>
        </p:sp>
        <p:sp>
          <p:nvSpPr>
            <p:cNvPr id="270" name="Google Shape;270;g337e5a30c67_1_5"/>
            <p:cNvSpPr txBox="1"/>
            <p:nvPr/>
          </p:nvSpPr>
          <p:spPr>
            <a:xfrm>
              <a:off x="-166746" y="8137505"/>
              <a:ext cx="5769300" cy="848700"/>
            </a:xfrm>
            <a:prstGeom prst="rect">
              <a:avLst/>
            </a:prstGeom>
            <a:noFill/>
            <a:ln>
              <a:noFill/>
            </a:ln>
          </p:spPr>
          <p:txBody>
            <a:bodyPr spcFirstLastPara="1" wrap="square" lIns="0" tIns="0" rIns="0" bIns="0" anchor="t" anchorCtr="0">
              <a:spAutoFit/>
            </a:bodyPr>
            <a:p>
              <a:pPr marL="0" marR="0" lvl="0" indent="0" algn="ctr" rtl="0">
                <a:lnSpc>
                  <a:spcPct val="115000"/>
                </a:lnSpc>
                <a:spcBef>
                  <a:spcPts val="0"/>
                </a:spcBef>
                <a:spcAft>
                  <a:spcPts val="0"/>
                </a:spcAft>
                <a:buClr>
                  <a:srgbClr val="000000"/>
                </a:buClr>
                <a:buSzPts val="2199"/>
                <a:buFont typeface="Arial"/>
                <a:buNone/>
              </a:pPr>
              <a:r>
                <a:rPr lang="en-US" sz="1800">
                  <a:solidFill>
                    <a:srgbClr val="143642"/>
                  </a:solidFill>
                  <a:latin typeface="Plus Jakarta Sans"/>
                  <a:ea typeface="Plus Jakarta Sans"/>
                  <a:cs typeface="Plus Jakarta Sans"/>
                  <a:sym typeface="Plus Jakarta Sans"/>
                </a:rPr>
                <a:t>Project officer, Brand Building and Marketing</a:t>
              </a:r>
              <a:endParaRPr sz="1800" i="0" u="none" strike="noStrike" cap="none">
                <a:solidFill>
                  <a:srgbClr val="143642"/>
                </a:solidFill>
                <a:latin typeface="Plus Jakarta Sans"/>
                <a:ea typeface="Plus Jakarta Sans"/>
                <a:cs typeface="Plus Jakarta Sans"/>
                <a:sym typeface="Plus Jakarta Sans"/>
              </a:endParaRPr>
            </a:p>
          </p:txBody>
        </p:sp>
      </p:grpSp>
      <p:grpSp>
        <p:nvGrpSpPr>
          <p:cNvPr id="271" name="Google Shape;271;g337e5a30c67_1_5"/>
          <p:cNvGrpSpPr/>
          <p:nvPr/>
        </p:nvGrpSpPr>
        <p:grpSpPr>
          <a:xfrm>
            <a:off x="12664156" y="4056306"/>
            <a:ext cx="3877483" cy="1238504"/>
            <a:chOff x="-70703" y="7232802"/>
            <a:chExt cx="5574300" cy="1764503"/>
          </a:xfrm>
        </p:grpSpPr>
        <p:sp>
          <p:nvSpPr>
            <p:cNvPr id="273" name="Google Shape;273;g337e5a30c67_1_5"/>
            <p:cNvSpPr txBox="1"/>
            <p:nvPr/>
          </p:nvSpPr>
          <p:spPr>
            <a:xfrm>
              <a:off x="658448" y="7232802"/>
              <a:ext cx="4118400" cy="858548"/>
            </a:xfrm>
            <a:prstGeom prst="rect">
              <a:avLst/>
            </a:prstGeom>
            <a:noFill/>
            <a:ln>
              <a:noFill/>
            </a:ln>
          </p:spPr>
          <p:txBody>
            <a:bodyPr spcFirstLastPara="1" wrap="square" lIns="0" tIns="0" rIns="0" bIns="0" anchor="t" anchorCtr="0">
              <a:spAutoFit/>
            </a:bodyPr>
            <a:p>
              <a:pPr marL="0" marR="0" lvl="0" indent="0" algn="ctr" rtl="0">
                <a:lnSpc>
                  <a:spcPct val="140000"/>
                </a:lnSpc>
                <a:spcBef>
                  <a:spcPts val="0"/>
                </a:spcBef>
                <a:spcAft>
                  <a:spcPts val="0"/>
                </a:spcAft>
                <a:buClr>
                  <a:srgbClr val="000000"/>
                </a:buClr>
                <a:buSzPts val="2100"/>
                <a:buFont typeface="Arial"/>
                <a:buNone/>
              </a:pPr>
              <a:r>
                <a:rPr sz="1400" i="0" u="none" strike="noStrike" cap="none">
                  <a:solidFill>
                    <a:srgbClr val="0A547A"/>
                  </a:solidFill>
                  <a:latin typeface="Plus Jakarta Sans Medium"/>
                  <a:ea typeface="Plus Jakarta Sans Medium"/>
                  <a:cs typeface="Plus Jakarta Sans Medium"/>
                  <a:sym typeface="Plus Jakarta Sans Medium"/>
                </a:rPr>
                <a:t>Emmanuel Mwangata</a:t>
              </a:r>
              <a:endParaRPr sz="1400" i="0" u="none" strike="noStrike" cap="none">
                <a:solidFill>
                  <a:srgbClr val="0A547A"/>
                </a:solidFill>
                <a:latin typeface="Plus Jakarta Sans Medium"/>
                <a:ea typeface="Plus Jakarta Sans Medium"/>
                <a:cs typeface="Plus Jakarta Sans Medium"/>
                <a:sym typeface="Plus Jakarta Sans Medium"/>
              </a:endParaRPr>
            </a:p>
            <a:p>
              <a:pPr marL="0" marR="0" lvl="0" indent="0" algn="ctr" rtl="0">
                <a:lnSpc>
                  <a:spcPct val="140000"/>
                </a:lnSpc>
                <a:spcBef>
                  <a:spcPts val="0"/>
                </a:spcBef>
                <a:spcAft>
                  <a:spcPts val="0"/>
                </a:spcAft>
                <a:buClr>
                  <a:srgbClr val="000000"/>
                </a:buClr>
                <a:buSzPts val="2100"/>
                <a:buFont typeface="Arial"/>
                <a:buNone/>
              </a:pPr>
              <a:r>
                <a:rPr sz="1400" i="0" u="none" strike="noStrike" cap="none">
                  <a:solidFill>
                    <a:srgbClr val="0A547A"/>
                  </a:solidFill>
                  <a:latin typeface="Plus Jakarta Sans Medium"/>
                  <a:ea typeface="Plus Jakarta Sans Medium"/>
                  <a:cs typeface="Plus Jakarta Sans Medium"/>
                  <a:sym typeface="Plus Jakarta Sans Medium"/>
                </a:rPr>
                <a:t>Mwaba</a:t>
              </a:r>
              <a:endParaRPr sz="1400" i="0" u="none" strike="noStrike" cap="none">
                <a:solidFill>
                  <a:srgbClr val="0A547A"/>
                </a:solidFill>
                <a:latin typeface="Plus Jakarta Sans Medium"/>
                <a:ea typeface="Plus Jakarta Sans Medium"/>
                <a:cs typeface="Plus Jakarta Sans Medium"/>
                <a:sym typeface="Plus Jakarta Sans Medium"/>
              </a:endParaRPr>
            </a:p>
          </p:txBody>
        </p:sp>
        <p:sp>
          <p:nvSpPr>
            <p:cNvPr id="274" name="Google Shape;274;g337e5a30c67_1_5"/>
            <p:cNvSpPr txBox="1"/>
            <p:nvPr/>
          </p:nvSpPr>
          <p:spPr>
            <a:xfrm>
              <a:off x="-70703" y="8602505"/>
              <a:ext cx="5574300" cy="394800"/>
            </a:xfrm>
            <a:prstGeom prst="rect">
              <a:avLst/>
            </a:prstGeom>
            <a:noFill/>
            <a:ln>
              <a:noFill/>
            </a:ln>
          </p:spPr>
          <p:txBody>
            <a:bodyPr spcFirstLastPara="1" wrap="square" lIns="0" tIns="0" rIns="0" bIns="0" anchor="t" anchorCtr="0">
              <a:spAutoFit/>
            </a:bodyPr>
            <a:p>
              <a:pPr marL="0" marR="0" lvl="0" indent="0" algn="ctr" rtl="0">
                <a:lnSpc>
                  <a:spcPct val="115000"/>
                </a:lnSpc>
                <a:spcBef>
                  <a:spcPts val="0"/>
                </a:spcBef>
                <a:spcAft>
                  <a:spcPts val="0"/>
                </a:spcAft>
                <a:buClr>
                  <a:srgbClr val="000000"/>
                </a:buClr>
                <a:buSzPts val="2199"/>
                <a:buFont typeface="Arial"/>
                <a:buNone/>
              </a:pPr>
              <a:r>
                <a:rPr lang="en-US" sz="1800">
                  <a:solidFill>
                    <a:srgbClr val="143642"/>
                  </a:solidFill>
                  <a:latin typeface="Plus Jakarta Sans"/>
                  <a:ea typeface="Plus Jakarta Sans"/>
                  <a:cs typeface="Plus Jakarta Sans"/>
                  <a:sym typeface="Plus Jakarta Sans"/>
                </a:rPr>
                <a:t>Product Design Lead</a:t>
              </a:r>
              <a:endParaRPr sz="1800" i="0" u="none" strike="noStrike" cap="none">
                <a:solidFill>
                  <a:srgbClr val="143642"/>
                </a:solidFill>
                <a:latin typeface="Plus Jakarta Sans"/>
                <a:ea typeface="Plus Jakarta Sans"/>
                <a:cs typeface="Plus Jakarta Sans"/>
                <a:sym typeface="Plus Jakarta Sans"/>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 name="Google Shape;216;p25"/>
          <p:cNvGrpSpPr/>
          <p:nvPr/>
        </p:nvGrpSpPr>
        <p:grpSpPr>
          <a:xfrm>
            <a:off x="0" y="0"/>
            <a:ext cx="18287640" cy="1752840"/>
            <a:chOff x="0" y="0"/>
            <a:chExt cx="18287640" cy="1752840"/>
          </a:xfrm>
        </p:grpSpPr>
        <p:sp>
          <p:nvSpPr>
            <p:cNvPr id="189" name="Google Shape;217;p25"/>
            <p:cNvSpPr/>
            <p:nvPr/>
          </p:nvSpPr>
          <p:spPr>
            <a:xfrm>
              <a:off x="0" y="222120"/>
              <a:ext cx="18287640" cy="1530720"/>
            </a:xfrm>
            <a:custGeom>
              <a:avLst/>
              <a:gdLst>
                <a:gd name="textAreaLeft" fmla="*/ 0 w 18287640"/>
                <a:gd name="textAreaRight" fmla="*/ 18288000 w 18287640"/>
                <a:gd name="textAreaTop" fmla="*/ 0 h 1530720"/>
                <a:gd name="textAreaBottom" fmla="*/ 1531080 h 1530720"/>
              </a:gdLst>
              <a:ahLst/>
              <a:cxnLst/>
              <a:rect l="textAreaLeft" t="textAreaTop" r="textAreaRight" b="textAreaBottom"/>
              <a:pathLst>
                <a:path w="4816592" h="393857">
                  <a:moveTo>
                    <a:pt x="0" y="0"/>
                  </a:moveTo>
                  <a:lnTo>
                    <a:pt x="4816592" y="0"/>
                  </a:lnTo>
                  <a:lnTo>
                    <a:pt x="4816592" y="393857"/>
                  </a:lnTo>
                  <a:lnTo>
                    <a:pt x="0" y="393857"/>
                  </a:lnTo>
                  <a:close/>
                </a:path>
              </a:pathLst>
            </a:custGeom>
            <a:solidFill>
              <a:srgbClr val="25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90" name="Google Shape;218;p25"/>
            <p:cNvSpPr/>
            <p:nvPr/>
          </p:nvSpPr>
          <p:spPr>
            <a:xfrm>
              <a:off x="0" y="0"/>
              <a:ext cx="18287280" cy="175248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91" name="Google Shape;219;p25"/>
          <p:cNvSpPr/>
          <p:nvPr/>
        </p:nvSpPr>
        <p:spPr>
          <a:xfrm>
            <a:off x="1074600" y="562320"/>
            <a:ext cx="800100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chemeClr val="lt1"/>
                </a:solidFill>
                <a:latin typeface="Plus Jakarta Sans ExtraBold"/>
                <a:ea typeface="Plus Jakarta Sans ExtraBold"/>
              </a:rPr>
              <a:t>Our Ask?</a:t>
            </a:r>
            <a:endParaRPr lang="en-US" sz="5600" b="0" strike="noStrike" spc="-1">
              <a:solidFill>
                <a:srgbClr val="000000"/>
              </a:solidFill>
              <a:latin typeface="Arial"/>
            </a:endParaRPr>
          </a:p>
        </p:txBody>
      </p:sp>
      <p:sp>
        <p:nvSpPr>
          <p:cNvPr id="192" name="Google Shape;220;p25"/>
          <p:cNvSpPr/>
          <p:nvPr/>
        </p:nvSpPr>
        <p:spPr>
          <a:xfrm>
            <a:off x="1074600" y="3127680"/>
            <a:ext cx="6884640" cy="21539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marL="457200" indent="-412750">
              <a:lnSpc>
                <a:spcPct val="100000"/>
              </a:lnSpc>
              <a:buClr>
                <a:srgbClr val="000000"/>
              </a:buClr>
              <a:buFont typeface="Plus Jakarta Sans Medium"/>
              <a:buChar char="●"/>
            </a:pPr>
            <a:r>
              <a:rPr lang="en-US" sz="2000" b="0" strike="noStrike" spc="-1">
                <a:solidFill>
                  <a:schemeClr val="dk1"/>
                </a:solidFill>
                <a:latin typeface="Plus Jakarta Sans Medium"/>
                <a:ea typeface="Plus Jakarta Sans Medium"/>
              </a:rPr>
              <a:t>We are seeking strategic partnerships, mentorship, and </a:t>
            </a:r>
            <a:r>
              <a:rPr lang="en-US" sz="2000" spc="-1">
                <a:solidFill>
                  <a:schemeClr val="dk1"/>
                </a:solidFill>
                <a:latin typeface="Plus Jakarta Sans Medium"/>
                <a:ea typeface="Plus Jakarta Sans Medium"/>
                <a:sym typeface="+mn-ea"/>
              </a:rPr>
              <a:t>ZMW 750,000 in seed funding to cover 18 months of operations.</a:t>
            </a:r>
            <a:r>
              <a:rPr lang="en-US" sz="2000" b="0" strike="noStrike" spc="-1">
                <a:solidFill>
                  <a:schemeClr val="dk1"/>
                </a:solidFill>
                <a:latin typeface="Plus Jakarta Sans Medium"/>
                <a:ea typeface="Plus Jakarta Sans Medium"/>
              </a:rPr>
              <a:t>seed funding to scale our voice AI system, expand farmer reach, and integrate new financial partners.</a:t>
            </a:r>
            <a:endParaRPr lang="en-US" sz="2000" b="0" strike="noStrike" spc="-1">
              <a:solidFill>
                <a:schemeClr val="dk1"/>
              </a:solidFill>
              <a:latin typeface="Plus Jakarta Sans Medium"/>
              <a:ea typeface="Plus Jakarta Sans Medium"/>
            </a:endParaRPr>
          </a:p>
          <a:p>
            <a:pPr marL="457200" indent="-412750">
              <a:lnSpc>
                <a:spcPct val="100000"/>
              </a:lnSpc>
              <a:buClr>
                <a:srgbClr val="000000"/>
              </a:buClr>
              <a:buFont typeface="Plus Jakarta Sans Medium"/>
              <a:buChar char="●"/>
            </a:pPr>
            <a:endParaRPr lang="en-US" sz="2000" b="0" strike="noStrike" spc="-1">
              <a:solidFill>
                <a:schemeClr val="dk1"/>
              </a:solidFill>
              <a:latin typeface="Plus Jakarta Sans Medium"/>
              <a:ea typeface="Plus Jakarta Sans Medium"/>
            </a:endParaRPr>
          </a:p>
          <a:p>
            <a:pPr marL="457200" indent="-412750">
              <a:lnSpc>
                <a:spcPct val="100000"/>
              </a:lnSpc>
              <a:buClr>
                <a:srgbClr val="000000"/>
              </a:buClr>
              <a:buFont typeface="Plus Jakarta Sans Medium"/>
              <a:buChar char="●"/>
            </a:pPr>
            <a:endParaRPr lang="en-US" sz="2000" b="0" strike="noStrike" spc="-1">
              <a:solidFill>
                <a:schemeClr val="dk1"/>
              </a:solidFill>
              <a:latin typeface="Plus Jakarta Sans Medium"/>
              <a:ea typeface="Plus Jakarta Sans Medium"/>
            </a:endParaRPr>
          </a:p>
        </p:txBody>
      </p:sp>
      <p:graphicFrame>
        <p:nvGraphicFramePr>
          <p:cNvPr id="3" name="Chart 2"/>
          <p:cNvGraphicFramePr/>
          <p:nvPr/>
        </p:nvGraphicFramePr>
        <p:xfrm>
          <a:off x="8306435" y="2192655"/>
          <a:ext cx="9057640" cy="735520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4" name="Google Shape;226;p26"/>
          <p:cNvCxnSpPr/>
          <p:nvPr/>
        </p:nvCxnSpPr>
        <p:spPr>
          <a:xfrm>
            <a:off x="1074600" y="8563320"/>
            <a:ext cx="16138800" cy="360"/>
          </a:xfrm>
          <a:prstGeom prst="straightConnector1">
            <a:avLst/>
          </a:prstGeom>
          <a:ln w="38100">
            <a:solidFill>
              <a:srgbClr val="EECC1D"/>
            </a:solidFill>
            <a:round/>
          </a:ln>
        </p:spPr>
      </p:cxnSp>
      <p:sp>
        <p:nvSpPr>
          <p:cNvPr id="195" name="Google Shape;227;p26"/>
          <p:cNvSpPr/>
          <p:nvPr/>
        </p:nvSpPr>
        <p:spPr>
          <a:xfrm>
            <a:off x="1074600" y="4374360"/>
            <a:ext cx="14166360" cy="19407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40000"/>
              </a:lnSpc>
              <a:tabLst>
                <a:tab pos="0" algn="l"/>
              </a:tabLst>
            </a:pPr>
            <a:r>
              <a:rPr lang="en-US" sz="9100" b="0" strike="noStrike" spc="-1">
                <a:solidFill>
                  <a:srgbClr val="2598D3"/>
                </a:solidFill>
                <a:latin typeface="Plus Jakarta Sans ExtraBold"/>
                <a:ea typeface="Plus Jakarta Sans ExtraBold"/>
              </a:rPr>
              <a:t>Thank You</a:t>
            </a:r>
            <a:endParaRPr lang="en-US" sz="9100" b="0" strike="noStrike" spc="-1">
              <a:solidFill>
                <a:srgbClr val="000000"/>
              </a:solidFill>
              <a:latin typeface="Arial"/>
            </a:endParaRPr>
          </a:p>
        </p:txBody>
      </p:sp>
      <p:sp>
        <p:nvSpPr>
          <p:cNvPr id="196" name="Google Shape;228;p26"/>
          <p:cNvSpPr/>
          <p:nvPr/>
        </p:nvSpPr>
        <p:spPr>
          <a:xfrm>
            <a:off x="814705" y="8872220"/>
            <a:ext cx="3055620" cy="762635"/>
          </a:xfrm>
          <a:prstGeom prst="rect">
            <a:avLst/>
          </a:prstGeom>
          <a:noFill/>
          <a:ln w="0">
            <a:noFill/>
          </a:ln>
        </p:spPr>
        <p:style>
          <a:lnRef idx="0">
            <a:srgbClr val="FFFFFF"/>
          </a:lnRef>
          <a:fillRef idx="0">
            <a:srgbClr val="FFFFFF"/>
          </a:fillRef>
          <a:effectRef idx="0">
            <a:srgbClr val="FFFFFF"/>
          </a:effectRef>
          <a:fontRef idx="minor"/>
        </p:style>
        <p:txBody>
          <a:bodyPr wrap="square" lIns="0" tIns="0" rIns="0" bIns="0" anchor="t">
            <a:spAutoFit/>
          </a:bodyPr>
          <a:p>
            <a:pPr algn="just">
              <a:lnSpc>
                <a:spcPct val="155000"/>
              </a:lnSpc>
              <a:tabLst>
                <a:tab pos="0" algn="l"/>
              </a:tabLst>
            </a:pPr>
            <a:r>
              <a:rPr lang="en-US" sz="1600" b="1" strike="noStrike" spc="-1">
                <a:solidFill>
                  <a:srgbClr val="143642"/>
                </a:solidFill>
                <a:latin typeface="Plus Jakarta Sans"/>
                <a:ea typeface="Plus Jakarta Sans"/>
              </a:rPr>
              <a:t>Telepho</a:t>
            </a:r>
            <a:r>
              <a:rPr lang="en-US" altLang="en-US" sz="1600" b="1" strike="noStrike" spc="-1">
                <a:solidFill>
                  <a:srgbClr val="143642"/>
                </a:solidFill>
                <a:latin typeface="Plus Jakarta Sans"/>
                <a:ea typeface="Plus Jakarta Sans"/>
              </a:rPr>
              <a:t>z</a:t>
            </a:r>
            <a:r>
              <a:rPr lang="en-US" sz="1600" b="1" strike="noStrike" spc="-1">
                <a:solidFill>
                  <a:srgbClr val="143642"/>
                </a:solidFill>
                <a:latin typeface="Plus Jakarta Sans"/>
                <a:ea typeface="Plus Jakarta Sans"/>
              </a:rPr>
              <a:t>ne</a:t>
            </a:r>
            <a:r>
              <a:rPr lang="en-US" altLang="en-US" sz="1600" b="1" strike="noStrike" spc="-1">
                <a:solidFill>
                  <a:srgbClr val="143642"/>
                </a:solidFill>
                <a:latin typeface="Plus Jakarta Sans"/>
                <a:ea typeface="Plus Jakarta Sans"/>
              </a:rPr>
              <a:t>: +260961538892</a:t>
            </a:r>
            <a:endParaRPr lang="en-US" altLang="en-US" sz="1600" b="1" strike="noStrike" spc="-1">
              <a:solidFill>
                <a:srgbClr val="143642"/>
              </a:solidFill>
              <a:latin typeface="Plus Jakarta Sans"/>
              <a:ea typeface="Plus Jakarta Sans"/>
            </a:endParaRPr>
          </a:p>
        </p:txBody>
      </p:sp>
      <p:sp>
        <p:nvSpPr>
          <p:cNvPr id="197" name="Google Shape;229;p26"/>
          <p:cNvSpPr/>
          <p:nvPr/>
        </p:nvSpPr>
        <p:spPr>
          <a:xfrm>
            <a:off x="4497070" y="8872220"/>
            <a:ext cx="5144770" cy="381000"/>
          </a:xfrm>
          <a:prstGeom prst="rect">
            <a:avLst/>
          </a:prstGeom>
          <a:noFill/>
          <a:ln w="0">
            <a:noFill/>
          </a:ln>
        </p:spPr>
        <p:style>
          <a:lnRef idx="0">
            <a:srgbClr val="FFFFFF"/>
          </a:lnRef>
          <a:fillRef idx="0">
            <a:srgbClr val="FFFFFF"/>
          </a:fillRef>
          <a:effectRef idx="0">
            <a:srgbClr val="FFFFFF"/>
          </a:effectRef>
          <a:fontRef idx="minor"/>
        </p:style>
        <p:txBody>
          <a:bodyPr wrap="square" lIns="0" tIns="0" rIns="0" bIns="0" anchor="t">
            <a:spAutoFit/>
          </a:bodyPr>
          <a:p>
            <a:pPr algn="just">
              <a:lnSpc>
                <a:spcPct val="155000"/>
              </a:lnSpc>
              <a:tabLst>
                <a:tab pos="0" algn="l"/>
              </a:tabLst>
            </a:pPr>
            <a:r>
              <a:rPr lang="en-US" sz="1600" b="1" strike="noStrike" spc="-1">
                <a:solidFill>
                  <a:srgbClr val="143642"/>
                </a:solidFill>
                <a:latin typeface="Plus Jakarta Sans"/>
                <a:ea typeface="Plus Jakarta Sans"/>
              </a:rPr>
              <a:t>Address</a:t>
            </a:r>
            <a:r>
              <a:rPr lang="en-US" altLang="en-US" sz="1600" b="1" strike="noStrike" spc="-1">
                <a:solidFill>
                  <a:srgbClr val="143642"/>
                </a:solidFill>
                <a:latin typeface="Plus Jakarta Sans"/>
                <a:ea typeface="Plus Jakarta Sans"/>
              </a:rPr>
              <a:t>: farm 865/9/506 Roan,luanshya,cb,zm</a:t>
            </a:r>
            <a:endParaRPr lang="en-US" altLang="en-US" sz="1600" b="1" strike="noStrike" spc="-1">
              <a:solidFill>
                <a:srgbClr val="143642"/>
              </a:solidFill>
              <a:latin typeface="Plus Jakarta Sans"/>
              <a:ea typeface="Plus Jakarta Sans"/>
            </a:endParaRPr>
          </a:p>
        </p:txBody>
      </p:sp>
      <p:sp>
        <p:nvSpPr>
          <p:cNvPr id="198" name="Google Shape;230;p26"/>
          <p:cNvSpPr/>
          <p:nvPr/>
        </p:nvSpPr>
        <p:spPr>
          <a:xfrm>
            <a:off x="10696575" y="8868410"/>
            <a:ext cx="5593080" cy="381000"/>
          </a:xfrm>
          <a:prstGeom prst="rect">
            <a:avLst/>
          </a:prstGeom>
          <a:noFill/>
          <a:ln w="0">
            <a:noFill/>
          </a:ln>
        </p:spPr>
        <p:style>
          <a:lnRef idx="0">
            <a:srgbClr val="FFFFFF"/>
          </a:lnRef>
          <a:fillRef idx="0">
            <a:srgbClr val="FFFFFF"/>
          </a:fillRef>
          <a:effectRef idx="0">
            <a:srgbClr val="FFFFFF"/>
          </a:effectRef>
          <a:fontRef idx="minor"/>
        </p:style>
        <p:txBody>
          <a:bodyPr wrap="square" lIns="0" tIns="0" rIns="0" bIns="0" anchor="t">
            <a:spAutoFit/>
          </a:bodyPr>
          <a:p>
            <a:pPr algn="just">
              <a:lnSpc>
                <a:spcPct val="155000"/>
              </a:lnSpc>
              <a:tabLst>
                <a:tab pos="0" algn="l"/>
              </a:tabLst>
            </a:pPr>
            <a:r>
              <a:rPr lang="en-US" sz="1600" b="1" strike="noStrike" spc="-1">
                <a:solidFill>
                  <a:srgbClr val="143642"/>
                </a:solidFill>
                <a:latin typeface="Plus Jakarta Sans"/>
                <a:ea typeface="Plus Jakarta Sans"/>
              </a:rPr>
              <a:t>Website</a:t>
            </a:r>
            <a:r>
              <a:rPr lang="en-US" altLang="en-US" sz="1600" b="1" strike="noStrike" spc="-1">
                <a:solidFill>
                  <a:srgbClr val="143642"/>
                </a:solidFill>
                <a:latin typeface="Plus Jakarta Sans"/>
                <a:ea typeface="Plus Jakarta Sans"/>
              </a:rPr>
              <a:t>: covainhive.nextinnomind.me </a:t>
            </a:r>
            <a:endParaRPr lang="en-US" altLang="en-US" sz="1600" b="1" strike="noStrike" spc="-1">
              <a:solidFill>
                <a:srgbClr val="143642"/>
              </a:solidFill>
              <a:latin typeface="Plus Jakarta Sans"/>
              <a:ea typeface="Plus Jakarta Sans"/>
            </a:endParaRPr>
          </a:p>
        </p:txBody>
      </p:sp>
      <p:grpSp>
        <p:nvGrpSpPr>
          <p:cNvPr id="199" name="Google Shape;231;p26"/>
          <p:cNvGrpSpPr/>
          <p:nvPr/>
        </p:nvGrpSpPr>
        <p:grpSpPr>
          <a:xfrm>
            <a:off x="1074600" y="739440"/>
            <a:ext cx="2233440" cy="1023480"/>
            <a:chOff x="1074600" y="739440"/>
            <a:chExt cx="2233440" cy="1023480"/>
          </a:xfrm>
        </p:grpSpPr>
        <p:sp>
          <p:nvSpPr>
            <p:cNvPr id="200" name="Google Shape;232;p26"/>
            <p:cNvSpPr/>
            <p:nvPr/>
          </p:nvSpPr>
          <p:spPr>
            <a:xfrm>
              <a:off x="1074600" y="739440"/>
              <a:ext cx="2233440" cy="1023480"/>
            </a:xfrm>
            <a:prstGeom prst="roundRect">
              <a:avLst>
                <a:gd name="adj" fmla="val 16667"/>
              </a:avLst>
            </a:prstGeom>
            <a:solidFill>
              <a:schemeClr val="lt1"/>
            </a:solidFill>
            <a:ln w="9525">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pic>
          <p:nvPicPr>
            <p:cNvPr id="201" name="Google Shape;233;p26"/>
            <p:cNvPicPr/>
            <p:nvPr/>
          </p:nvPicPr>
          <p:blipFill>
            <a:blip r:embed="rId1"/>
            <a:stretch>
              <a:fillRect/>
            </a:stretch>
          </p:blipFill>
          <p:spPr>
            <a:xfrm>
              <a:off x="1300680" y="998280"/>
              <a:ext cx="1788120" cy="540720"/>
            </a:xfrm>
            <a:prstGeom prst="rect">
              <a:avLst/>
            </a:prstGeom>
            <a:ln w="0">
              <a:noFill/>
            </a:ln>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5713</Words>
  <Application>WPS Presentation</Application>
  <PresentationFormat/>
  <Paragraphs>283</Paragraphs>
  <Slides>13</Slides>
  <Notes>0</Notes>
  <HiddenSlides>0</HiddenSlides>
  <MMClips>0</MMClips>
  <ScaleCrop>false</ScaleCrop>
  <HeadingPairs>
    <vt:vector size="6" baseType="variant">
      <vt:variant>
        <vt:lpstr>已用的字体</vt:lpstr>
      </vt:variant>
      <vt:variant>
        <vt:i4>23</vt:i4>
      </vt:variant>
      <vt:variant>
        <vt:lpstr>主题</vt:lpstr>
      </vt:variant>
      <vt:variant>
        <vt:i4>11</vt:i4>
      </vt:variant>
      <vt:variant>
        <vt:lpstr>幻灯片标题</vt:lpstr>
      </vt:variant>
      <vt:variant>
        <vt:i4>13</vt:i4>
      </vt:variant>
    </vt:vector>
  </HeadingPairs>
  <TitlesOfParts>
    <vt:vector size="47" baseType="lpstr">
      <vt:lpstr>Arial</vt:lpstr>
      <vt:lpstr>SimSun</vt:lpstr>
      <vt:lpstr>Wingdings</vt:lpstr>
      <vt:lpstr>Times New Roman</vt:lpstr>
      <vt:lpstr>Arial</vt:lpstr>
      <vt:lpstr>Symbol</vt:lpstr>
      <vt:lpstr>Calibri</vt:lpstr>
      <vt:lpstr>Plus Jakarta Sans ExtraBold</vt:lpstr>
      <vt:lpstr>Open Sans ExtraBold</vt:lpstr>
      <vt:lpstr>Plus Jakarta Sans Medium</vt:lpstr>
      <vt:lpstr>Montserrat</vt:lpstr>
      <vt:lpstr>Plus Jakarta Sans</vt:lpstr>
      <vt:lpstr>Noto Sans</vt:lpstr>
      <vt:lpstr>Arial Narrow</vt:lpstr>
      <vt:lpstr>Arial narrow</vt:lpstr>
      <vt:lpstr>东文宋体</vt:lpstr>
      <vt:lpstr>Plus Jakarta Sans SemiBold</vt:lpstr>
      <vt:lpstr>DejaVu Sans</vt:lpstr>
      <vt:lpstr>URW Bookman</vt:lpstr>
      <vt:lpstr>微软雅黑</vt:lpstr>
      <vt:lpstr>Droid Sans Fallback</vt:lpstr>
      <vt:lpstr>Arial Unicode MS</vt:lpstr>
      <vt:lpstr>Standard Symbols PS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nextinnomind</cp:lastModifiedBy>
  <cp:revision>10</cp:revision>
  <dcterms:created xsi:type="dcterms:W3CDTF">2025-11-05T08:11:34Z</dcterms:created>
  <dcterms:modified xsi:type="dcterms:W3CDTF">2025-11-05T08:11:34Z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D85832FA87F04A6A9DE9D826A21FCD4F_12</vt:lpwstr>
  </property>
  <property fmtid="{D5CDD505-2E9C-101B-9397-08002B2CF9AE}" pid="3" name="KSOProductBuildVer">
    <vt:lpwstr>1033-10.1.0.6757</vt:lpwstr>
  </property>
  <property fmtid="{D5CDD505-2E9C-101B-9397-08002B2CF9AE}" pid="4" name="Notes">
    <vt:i4>13</vt:i4>
  </property>
  <property fmtid="{D5CDD505-2E9C-101B-9397-08002B2CF9AE}" pid="5" name="PresentationFormat">
    <vt:lpwstr>Custom</vt:lpwstr>
  </property>
  <property fmtid="{D5CDD505-2E9C-101B-9397-08002B2CF9AE}" pid="6" name="Slides">
    <vt:i4>13</vt:i4>
  </property>
</Properties>
</file>